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0058400" cy="7772400"/>
  <p:notesSz cx="10058400" cy="7772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00" b="1" i="0">
                <a:solidFill>
                  <a:srgbClr val="EDAEF6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E4DBE6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00" b="1" i="0">
                <a:solidFill>
                  <a:srgbClr val="EDAEF6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E4DBE6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1057655"/>
            <a:ext cx="10058400" cy="5659120"/>
          </a:xfrm>
          <a:custGeom>
            <a:avLst/>
            <a:gdLst/>
            <a:ahLst/>
            <a:cxnLst/>
            <a:rect l="l" t="t" r="r" b="b"/>
            <a:pathLst>
              <a:path w="10058400" h="5659120">
                <a:moveTo>
                  <a:pt x="10058400" y="5658611"/>
                </a:moveTo>
                <a:lnTo>
                  <a:pt x="0" y="5658611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5658611"/>
                </a:lnTo>
                <a:close/>
              </a:path>
            </a:pathLst>
          </a:custGeom>
          <a:solidFill>
            <a:srgbClr val="080E3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20911" y="6377939"/>
            <a:ext cx="1196339" cy="29565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00" b="1" i="0">
                <a:solidFill>
                  <a:srgbClr val="EDAEF6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00" b="1" i="0">
                <a:solidFill>
                  <a:srgbClr val="EDAEF6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1057655"/>
            <a:ext cx="10058400" cy="5659120"/>
          </a:xfrm>
          <a:custGeom>
            <a:avLst/>
            <a:gdLst/>
            <a:ahLst/>
            <a:cxnLst/>
            <a:rect l="l" t="t" r="r" b="b"/>
            <a:pathLst>
              <a:path w="10058400" h="5659120">
                <a:moveTo>
                  <a:pt x="10058400" y="5658611"/>
                </a:moveTo>
                <a:lnTo>
                  <a:pt x="0" y="5658611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5658611"/>
                </a:lnTo>
                <a:close/>
              </a:path>
            </a:pathLst>
          </a:custGeom>
          <a:solidFill>
            <a:srgbClr val="080E3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21078" y="1383355"/>
            <a:ext cx="8697651" cy="65536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00" b="1" i="0">
                <a:solidFill>
                  <a:srgbClr val="EDAEF6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33816" y="2262592"/>
            <a:ext cx="4860925" cy="37420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E4DBE6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jpg"/><Relationship Id="rId4" Type="http://schemas.openxmlformats.org/officeDocument/2006/relationships/image" Target="../media/image7.jpg"/><Relationship Id="rId5" Type="http://schemas.openxmlformats.org/officeDocument/2006/relationships/image" Target="../media/image8.jpg"/><Relationship Id="rId6" Type="http://schemas.openxmlformats.org/officeDocument/2006/relationships/image" Target="../media/image9.jp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.png"/><Relationship Id="rId3" Type="http://schemas.openxmlformats.org/officeDocument/2006/relationships/image" Target="../media/image11.jpg"/><Relationship Id="rId4" Type="http://schemas.openxmlformats.org/officeDocument/2006/relationships/image" Target="../media/image12.jpg"/><Relationship Id="rId5" Type="http://schemas.openxmlformats.org/officeDocument/2006/relationships/image" Target="../media/image13.jpg"/><Relationship Id="rId6" Type="http://schemas.openxmlformats.org/officeDocument/2006/relationships/image" Target="../media/image14.jp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16.png"/><Relationship Id="rId4" Type="http://schemas.openxmlformats.org/officeDocument/2006/relationships/image" Target="../media/image17.jpg"/><Relationship Id="rId5" Type="http://schemas.openxmlformats.org/officeDocument/2006/relationships/image" Target="../media/image18.jpg"/><Relationship Id="rId6" Type="http://schemas.openxmlformats.org/officeDocument/2006/relationships/image" Target="../media/image19.jpg"/><Relationship Id="rId7" Type="http://schemas.openxmlformats.org/officeDocument/2006/relationships/image" Target="../media/image20.jpg"/><Relationship Id="rId8" Type="http://schemas.openxmlformats.org/officeDocument/2006/relationships/image" Target="../media/image21.pn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Relationship Id="rId8" Type="http://schemas.openxmlformats.org/officeDocument/2006/relationships/image" Target="../media/image27.png"/><Relationship Id="rId9" Type="http://schemas.openxmlformats.org/officeDocument/2006/relationships/image" Target="../media/image28.pn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29.jp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33.png"/><Relationship Id="rId4" Type="http://schemas.openxmlformats.org/officeDocument/2006/relationships/image" Target="../media/image34.pn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35.jpg"/><Relationship Id="rId4" Type="http://schemas.openxmlformats.org/officeDocument/2006/relationships/image" Target="../media/image36.jpg"/><Relationship Id="rId5" Type="http://schemas.openxmlformats.org/officeDocument/2006/relationships/image" Target="../media/image37.jpg"/><Relationship Id="rId6" Type="http://schemas.openxmlformats.org/officeDocument/2006/relationships/image" Target="../media/image38.jpg"/><Relationship Id="rId7" Type="http://schemas.openxmlformats.org/officeDocument/2006/relationships/image" Target="../media/image39.png"/><Relationship Id="rId8" Type="http://schemas.openxmlformats.org/officeDocument/2006/relationships/image" Target="../media/image40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4476" y="1057656"/>
            <a:ext cx="3963923" cy="5658611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34476" y="2694038"/>
            <a:ext cx="4670425" cy="492125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050"/>
              <a:t>HealthWellness</a:t>
            </a:r>
            <a:r>
              <a:rPr dirty="0" sz="3050" spc="170"/>
              <a:t> </a:t>
            </a:r>
            <a:r>
              <a:rPr dirty="0" sz="3050" spc="75"/>
              <a:t>Assistant</a:t>
            </a:r>
            <a:endParaRPr sz="3050"/>
          </a:p>
        </p:txBody>
      </p:sp>
      <p:sp>
        <p:nvSpPr>
          <p:cNvPr id="4" name="object 4"/>
          <p:cNvSpPr txBox="1"/>
          <p:nvPr/>
        </p:nvSpPr>
        <p:spPr>
          <a:xfrm>
            <a:off x="534416" y="3404108"/>
            <a:ext cx="4939030" cy="16275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424180">
              <a:lnSpc>
                <a:spcPct val="138300"/>
              </a:lnSpc>
              <a:spcBef>
                <a:spcPts val="100"/>
              </a:spcBef>
            </a:pPr>
            <a:r>
              <a:rPr dirty="0" sz="1200" spc="165">
                <a:solidFill>
                  <a:srgbClr val="E4DBE6"/>
                </a:solidFill>
                <a:latin typeface="Calibri"/>
                <a:cs typeface="Calibri"/>
              </a:rPr>
              <a:t>An</a:t>
            </a:r>
            <a:r>
              <a:rPr dirty="0" sz="1200" spc="65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200" spc="95">
                <a:solidFill>
                  <a:srgbClr val="E4DBE6"/>
                </a:solidFill>
                <a:latin typeface="Calibri"/>
                <a:cs typeface="Calibri"/>
              </a:rPr>
              <a:t>AI-</a:t>
            </a:r>
            <a:r>
              <a:rPr dirty="0" sz="1200" spc="135">
                <a:solidFill>
                  <a:srgbClr val="E4DBE6"/>
                </a:solidFill>
                <a:latin typeface="Calibri"/>
                <a:cs typeface="Calibri"/>
              </a:rPr>
              <a:t>powered</a:t>
            </a:r>
            <a:r>
              <a:rPr dirty="0" sz="1200" spc="100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200" spc="125">
                <a:solidFill>
                  <a:srgbClr val="E4DBE6"/>
                </a:solidFill>
                <a:latin typeface="Calibri"/>
                <a:cs typeface="Calibri"/>
              </a:rPr>
              <a:t>multilingual</a:t>
            </a:r>
            <a:r>
              <a:rPr dirty="0" sz="1200" spc="114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200" spc="120">
                <a:solidFill>
                  <a:srgbClr val="E4DBE6"/>
                </a:solidFill>
                <a:latin typeface="Calibri"/>
                <a:cs typeface="Calibri"/>
              </a:rPr>
              <a:t>health</a:t>
            </a:r>
            <a:r>
              <a:rPr dirty="0" sz="1200" spc="95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200" spc="130">
                <a:solidFill>
                  <a:srgbClr val="E4DBE6"/>
                </a:solidFill>
                <a:latin typeface="Calibri"/>
                <a:cs typeface="Calibri"/>
              </a:rPr>
              <a:t>chatbot</a:t>
            </a:r>
            <a:r>
              <a:rPr dirty="0" sz="1200" spc="90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200" spc="100">
                <a:solidFill>
                  <a:srgbClr val="E4DBE6"/>
                </a:solidFill>
                <a:latin typeface="Calibri"/>
                <a:cs typeface="Calibri"/>
              </a:rPr>
              <a:t>revolutionising </a:t>
            </a:r>
            <a:r>
              <a:rPr dirty="0" sz="1200" spc="120">
                <a:solidFill>
                  <a:srgbClr val="E4DBE6"/>
                </a:solidFill>
                <a:latin typeface="Calibri"/>
                <a:cs typeface="Calibri"/>
              </a:rPr>
              <a:t>healthcare</a:t>
            </a:r>
            <a:r>
              <a:rPr dirty="0" sz="1200" spc="100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200" spc="90">
                <a:solidFill>
                  <a:srgbClr val="E4DBE6"/>
                </a:solidFill>
                <a:latin typeface="Calibri"/>
                <a:cs typeface="Calibri"/>
              </a:rPr>
              <a:t>accessibility</a:t>
            </a:r>
            <a:endParaRPr sz="1200">
              <a:latin typeface="Calibri"/>
              <a:cs typeface="Calibri"/>
            </a:endParaRPr>
          </a:p>
          <a:p>
            <a:pPr marL="12700" marR="5080">
              <a:lnSpc>
                <a:spcPct val="138300"/>
              </a:lnSpc>
              <a:spcBef>
                <a:spcPts val="1330"/>
              </a:spcBef>
            </a:pPr>
            <a:r>
              <a:rPr dirty="0" sz="1200" spc="150" b="1">
                <a:solidFill>
                  <a:srgbClr val="E4DBE6"/>
                </a:solidFill>
                <a:latin typeface="Calibri"/>
                <a:cs typeface="Calibri"/>
              </a:rPr>
              <a:t>Presented</a:t>
            </a:r>
            <a:r>
              <a:rPr dirty="0" sz="1200" spc="100" b="1">
                <a:solidFill>
                  <a:srgbClr val="E4DBE6"/>
                </a:solidFill>
                <a:latin typeface="Calibri"/>
                <a:cs typeface="Calibri"/>
              </a:rPr>
              <a:t> by:</a:t>
            </a:r>
            <a:r>
              <a:rPr dirty="0" sz="1200" spc="80" b="1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200" spc="130">
                <a:solidFill>
                  <a:srgbClr val="E4DBE6"/>
                </a:solidFill>
                <a:latin typeface="Calibri"/>
                <a:cs typeface="Calibri"/>
              </a:rPr>
              <a:t>Shilpa</a:t>
            </a:r>
            <a:r>
              <a:rPr dirty="0" sz="1200" spc="65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200" spc="130">
                <a:solidFill>
                  <a:srgbClr val="E4DBE6"/>
                </a:solidFill>
                <a:latin typeface="Calibri"/>
                <a:cs typeface="Calibri"/>
              </a:rPr>
              <a:t>Chinnakkagari,</a:t>
            </a:r>
            <a:r>
              <a:rPr dirty="0" sz="1200" spc="114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200" spc="140">
                <a:solidFill>
                  <a:srgbClr val="E4DBE6"/>
                </a:solidFill>
                <a:latin typeface="Calibri"/>
                <a:cs typeface="Calibri"/>
              </a:rPr>
              <a:t>Sanjana</a:t>
            </a:r>
            <a:r>
              <a:rPr dirty="0" sz="1200" spc="80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200" spc="85">
                <a:solidFill>
                  <a:srgbClr val="E4DBE6"/>
                </a:solidFill>
                <a:latin typeface="Calibri"/>
                <a:cs typeface="Calibri"/>
              </a:rPr>
              <a:t>Sree,</a:t>
            </a:r>
            <a:r>
              <a:rPr dirty="0" sz="1200" spc="90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200" spc="155">
                <a:solidFill>
                  <a:srgbClr val="E4DBE6"/>
                </a:solidFill>
                <a:latin typeface="Calibri"/>
                <a:cs typeface="Calibri"/>
              </a:rPr>
              <a:t>Nimmaganti </a:t>
            </a:r>
            <a:r>
              <a:rPr dirty="0" sz="1200" spc="114">
                <a:solidFill>
                  <a:srgbClr val="E4DBE6"/>
                </a:solidFill>
                <a:latin typeface="Calibri"/>
                <a:cs typeface="Calibri"/>
              </a:rPr>
              <a:t>Harika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9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spc="145" b="1">
                <a:solidFill>
                  <a:srgbClr val="E4DBE6"/>
                </a:solidFill>
                <a:latin typeface="Calibri"/>
                <a:cs typeface="Calibri"/>
              </a:rPr>
              <a:t>Under</a:t>
            </a:r>
            <a:r>
              <a:rPr dirty="0" sz="1200" spc="100" b="1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200" spc="145" b="1">
                <a:solidFill>
                  <a:srgbClr val="E4DBE6"/>
                </a:solidFill>
                <a:latin typeface="Calibri"/>
                <a:cs typeface="Calibri"/>
              </a:rPr>
              <a:t>the</a:t>
            </a:r>
            <a:r>
              <a:rPr dirty="0" sz="1200" spc="90" b="1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200" spc="150" b="1">
                <a:solidFill>
                  <a:srgbClr val="E4DBE6"/>
                </a:solidFill>
                <a:latin typeface="Calibri"/>
                <a:cs typeface="Calibri"/>
              </a:rPr>
              <a:t>Guidance</a:t>
            </a:r>
            <a:r>
              <a:rPr dirty="0" sz="1200" spc="100" b="1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200" spc="65" b="1">
                <a:solidFill>
                  <a:srgbClr val="E4DBE6"/>
                </a:solidFill>
                <a:latin typeface="Calibri"/>
                <a:cs typeface="Calibri"/>
              </a:rPr>
              <a:t>of: </a:t>
            </a:r>
            <a:r>
              <a:rPr dirty="0" sz="1200" spc="120">
                <a:solidFill>
                  <a:srgbClr val="E4DBE6"/>
                </a:solidFill>
                <a:latin typeface="Calibri"/>
                <a:cs typeface="Calibri"/>
              </a:rPr>
              <a:t>Pavithra</a:t>
            </a:r>
            <a:r>
              <a:rPr dirty="0" sz="1200" spc="90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200" spc="150">
                <a:solidFill>
                  <a:srgbClr val="E4DBE6"/>
                </a:solidFill>
                <a:latin typeface="Calibri"/>
                <a:cs typeface="Calibri"/>
              </a:rPr>
              <a:t>Venugopal</a:t>
            </a:r>
            <a:r>
              <a:rPr dirty="0" sz="1200" spc="90">
                <a:solidFill>
                  <a:srgbClr val="E4DBE6"/>
                </a:solidFill>
                <a:latin typeface="Calibri"/>
                <a:cs typeface="Calibri"/>
              </a:rPr>
              <a:t> -</a:t>
            </a:r>
            <a:r>
              <a:rPr dirty="0" sz="1200" spc="50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200" spc="100">
                <a:solidFill>
                  <a:srgbClr val="E4DBE6"/>
                </a:solidFill>
                <a:latin typeface="Calibri"/>
                <a:cs typeface="Calibri"/>
              </a:rPr>
              <a:t>Mentor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057655"/>
            <a:ext cx="10058400" cy="202539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26887" y="3369226"/>
            <a:ext cx="7011670" cy="486409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000" spc="60"/>
              <a:t>Bridging</a:t>
            </a:r>
            <a:r>
              <a:rPr dirty="0" sz="3000" spc="20"/>
              <a:t> </a:t>
            </a:r>
            <a:r>
              <a:rPr dirty="0" sz="3000"/>
              <a:t>Healthcare</a:t>
            </a:r>
            <a:r>
              <a:rPr dirty="0" sz="3000" spc="50"/>
              <a:t> </a:t>
            </a:r>
            <a:r>
              <a:rPr dirty="0" sz="3000"/>
              <a:t>Accessibility</a:t>
            </a:r>
            <a:r>
              <a:rPr dirty="0" sz="3000" spc="5"/>
              <a:t> </a:t>
            </a:r>
            <a:r>
              <a:rPr dirty="0" sz="3000" spc="130"/>
              <a:t>Gaps</a:t>
            </a:r>
            <a:endParaRPr sz="3000"/>
          </a:p>
        </p:txBody>
      </p:sp>
      <p:sp>
        <p:nvSpPr>
          <p:cNvPr id="4" name="object 4"/>
          <p:cNvSpPr txBox="1"/>
          <p:nvPr/>
        </p:nvSpPr>
        <p:spPr>
          <a:xfrm>
            <a:off x="526796" y="4246791"/>
            <a:ext cx="4231640" cy="178308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750" spc="-10" b="1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dirty="0" sz="1750" spc="2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50" b="1">
                <a:solidFill>
                  <a:srgbClr val="FFFFFF"/>
                </a:solidFill>
                <a:latin typeface="Trebuchet MS"/>
                <a:cs typeface="Trebuchet MS"/>
              </a:rPr>
              <a:t>Problem</a:t>
            </a:r>
            <a:r>
              <a:rPr dirty="0" sz="1750" spc="-1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50" spc="-10" b="1">
                <a:solidFill>
                  <a:srgbClr val="FFFFFF"/>
                </a:solidFill>
                <a:latin typeface="Trebuchet MS"/>
                <a:cs typeface="Trebuchet MS"/>
              </a:rPr>
              <a:t>Statement</a:t>
            </a:r>
            <a:endParaRPr sz="1750">
              <a:latin typeface="Trebuchet MS"/>
              <a:cs typeface="Trebuchet MS"/>
            </a:endParaRPr>
          </a:p>
          <a:p>
            <a:pPr marL="248285" indent="-235585">
              <a:lnSpc>
                <a:spcPct val="100000"/>
              </a:lnSpc>
              <a:spcBef>
                <a:spcPts val="1670"/>
              </a:spcBef>
              <a:buChar char="•"/>
              <a:tabLst>
                <a:tab pos="248285" algn="l"/>
              </a:tabLst>
            </a:pPr>
            <a:r>
              <a:rPr dirty="0" sz="1200" spc="145">
                <a:solidFill>
                  <a:srgbClr val="E4DBE6"/>
                </a:solidFill>
                <a:latin typeface="Calibri"/>
                <a:cs typeface="Calibri"/>
              </a:rPr>
              <a:t>Where</a:t>
            </a:r>
            <a:r>
              <a:rPr dirty="0" sz="1200" spc="90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200" spc="155">
                <a:solidFill>
                  <a:srgbClr val="E4DBE6"/>
                </a:solidFill>
                <a:latin typeface="Calibri"/>
                <a:cs typeface="Calibri"/>
              </a:rPr>
              <a:t>can</a:t>
            </a:r>
            <a:r>
              <a:rPr dirty="0" sz="1200" spc="65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200" spc="114">
                <a:solidFill>
                  <a:srgbClr val="E4DBE6"/>
                </a:solidFill>
                <a:latin typeface="Calibri"/>
                <a:cs typeface="Calibri"/>
              </a:rPr>
              <a:t>patients</a:t>
            </a:r>
            <a:r>
              <a:rPr dirty="0" sz="1200" spc="75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200" spc="150">
                <a:solidFill>
                  <a:srgbClr val="E4DBE6"/>
                </a:solidFill>
                <a:latin typeface="Calibri"/>
                <a:cs typeface="Calibri"/>
              </a:rPr>
              <a:t>get</a:t>
            </a:r>
            <a:r>
              <a:rPr dirty="0" sz="1200" spc="60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200" spc="65">
                <a:solidFill>
                  <a:srgbClr val="E4DBE6"/>
                </a:solidFill>
                <a:latin typeface="Calibri"/>
                <a:cs typeface="Calibri"/>
              </a:rPr>
              <a:t>24/7</a:t>
            </a:r>
            <a:r>
              <a:rPr dirty="0" sz="1200" spc="75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200" spc="140">
                <a:solidFill>
                  <a:srgbClr val="E4DBE6"/>
                </a:solidFill>
                <a:latin typeface="Calibri"/>
                <a:cs typeface="Calibri"/>
              </a:rPr>
              <a:t>medical</a:t>
            </a:r>
            <a:r>
              <a:rPr dirty="0" sz="1200" spc="100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200" spc="145">
                <a:solidFill>
                  <a:srgbClr val="E4DBE6"/>
                </a:solidFill>
                <a:latin typeface="Calibri"/>
                <a:cs typeface="Calibri"/>
              </a:rPr>
              <a:t>guidance</a:t>
            </a:r>
            <a:endParaRPr sz="1200">
              <a:latin typeface="Calibri"/>
              <a:cs typeface="Calibri"/>
            </a:endParaRPr>
          </a:p>
          <a:p>
            <a:pPr marL="248920" marR="5080" indent="-236220">
              <a:lnSpc>
                <a:spcPct val="134200"/>
              </a:lnSpc>
              <a:spcBef>
                <a:spcPts val="420"/>
              </a:spcBef>
              <a:buChar char="•"/>
              <a:tabLst>
                <a:tab pos="248920" algn="l"/>
              </a:tabLst>
            </a:pPr>
            <a:r>
              <a:rPr dirty="0" sz="1200" spc="170">
                <a:solidFill>
                  <a:srgbClr val="E4DBE6"/>
                </a:solidFill>
                <a:latin typeface="Calibri"/>
                <a:cs typeface="Calibri"/>
              </a:rPr>
              <a:t>How</a:t>
            </a:r>
            <a:r>
              <a:rPr dirty="0" sz="1200" spc="80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200" spc="155">
                <a:solidFill>
                  <a:srgbClr val="E4DBE6"/>
                </a:solidFill>
                <a:latin typeface="Calibri"/>
                <a:cs typeface="Calibri"/>
              </a:rPr>
              <a:t>can</a:t>
            </a:r>
            <a:r>
              <a:rPr dirty="0" sz="1200" spc="75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200" spc="140">
                <a:solidFill>
                  <a:srgbClr val="E4DBE6"/>
                </a:solidFill>
                <a:latin typeface="Calibri"/>
                <a:cs typeface="Calibri"/>
              </a:rPr>
              <a:t>non-</a:t>
            </a:r>
            <a:r>
              <a:rPr dirty="0" sz="1200" spc="145">
                <a:solidFill>
                  <a:srgbClr val="E4DBE6"/>
                </a:solidFill>
                <a:latin typeface="Calibri"/>
                <a:cs typeface="Calibri"/>
              </a:rPr>
              <a:t>English</a:t>
            </a:r>
            <a:r>
              <a:rPr dirty="0" sz="1200" spc="80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200" spc="120">
                <a:solidFill>
                  <a:srgbClr val="E4DBE6"/>
                </a:solidFill>
                <a:latin typeface="Calibri"/>
                <a:cs typeface="Calibri"/>
              </a:rPr>
              <a:t>speakers</a:t>
            </a:r>
            <a:r>
              <a:rPr dirty="0" sz="1200" spc="95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200" spc="125">
                <a:solidFill>
                  <a:srgbClr val="E4DBE6"/>
                </a:solidFill>
                <a:latin typeface="Calibri"/>
                <a:cs typeface="Calibri"/>
              </a:rPr>
              <a:t>access</a:t>
            </a:r>
            <a:r>
              <a:rPr dirty="0" sz="1200" spc="95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200" spc="120">
                <a:solidFill>
                  <a:srgbClr val="E4DBE6"/>
                </a:solidFill>
                <a:latin typeface="Calibri"/>
                <a:cs typeface="Calibri"/>
              </a:rPr>
              <a:t>healthcare</a:t>
            </a:r>
            <a:r>
              <a:rPr dirty="0" sz="1200" spc="95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200" spc="85">
                <a:solidFill>
                  <a:srgbClr val="E4DBE6"/>
                </a:solidFill>
                <a:latin typeface="Calibri"/>
                <a:cs typeface="Calibri"/>
              </a:rPr>
              <a:t>in </a:t>
            </a:r>
            <a:r>
              <a:rPr dirty="0" sz="1200" spc="95">
                <a:solidFill>
                  <a:srgbClr val="E4DBE6"/>
                </a:solidFill>
                <a:latin typeface="Calibri"/>
                <a:cs typeface="Calibri"/>
              </a:rPr>
              <a:t>their</a:t>
            </a:r>
            <a:r>
              <a:rPr dirty="0" sz="1200" spc="75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200" spc="145">
                <a:solidFill>
                  <a:srgbClr val="E4DBE6"/>
                </a:solidFill>
                <a:latin typeface="Calibri"/>
                <a:cs typeface="Calibri"/>
              </a:rPr>
              <a:t>language?</a:t>
            </a:r>
            <a:endParaRPr sz="1200">
              <a:latin typeface="Calibri"/>
              <a:cs typeface="Calibri"/>
            </a:endParaRPr>
          </a:p>
          <a:p>
            <a:pPr marL="248920" marR="227965" indent="-236220">
              <a:lnSpc>
                <a:spcPct val="134200"/>
              </a:lnSpc>
              <a:spcBef>
                <a:spcPts val="440"/>
              </a:spcBef>
              <a:buChar char="•"/>
              <a:tabLst>
                <a:tab pos="248920" algn="l"/>
              </a:tabLst>
            </a:pPr>
            <a:r>
              <a:rPr dirty="0" sz="1200" spc="170">
                <a:solidFill>
                  <a:srgbClr val="E4DBE6"/>
                </a:solidFill>
                <a:latin typeface="Calibri"/>
                <a:cs typeface="Calibri"/>
              </a:rPr>
              <a:t>How</a:t>
            </a:r>
            <a:r>
              <a:rPr dirty="0" sz="1200" spc="75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200" spc="155">
                <a:solidFill>
                  <a:srgbClr val="E4DBE6"/>
                </a:solidFill>
                <a:latin typeface="Calibri"/>
                <a:cs typeface="Calibri"/>
              </a:rPr>
              <a:t>can</a:t>
            </a:r>
            <a:r>
              <a:rPr dirty="0" sz="1200" spc="70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200" spc="114">
                <a:solidFill>
                  <a:srgbClr val="E4DBE6"/>
                </a:solidFill>
                <a:latin typeface="Calibri"/>
                <a:cs typeface="Calibri"/>
              </a:rPr>
              <a:t>patients</a:t>
            </a:r>
            <a:r>
              <a:rPr dirty="0" sz="1200" spc="75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200" spc="120">
                <a:solidFill>
                  <a:srgbClr val="E4DBE6"/>
                </a:solidFill>
                <a:latin typeface="Calibri"/>
                <a:cs typeface="Calibri"/>
              </a:rPr>
              <a:t>track</a:t>
            </a:r>
            <a:r>
              <a:rPr dirty="0" sz="1200" spc="75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200" spc="110">
                <a:solidFill>
                  <a:srgbClr val="E4DBE6"/>
                </a:solidFill>
                <a:latin typeface="Calibri"/>
                <a:cs typeface="Calibri"/>
              </a:rPr>
              <a:t>wellness</a:t>
            </a:r>
            <a:r>
              <a:rPr dirty="0" sz="1200" spc="90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200" spc="140">
                <a:solidFill>
                  <a:srgbClr val="E4DBE6"/>
                </a:solidFill>
                <a:latin typeface="Calibri"/>
                <a:cs typeface="Calibri"/>
              </a:rPr>
              <a:t>between</a:t>
            </a:r>
            <a:r>
              <a:rPr dirty="0" sz="1200" spc="100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200" spc="110">
                <a:solidFill>
                  <a:srgbClr val="E4DBE6"/>
                </a:solidFill>
                <a:latin typeface="Calibri"/>
                <a:cs typeface="Calibri"/>
              </a:rPr>
              <a:t>doctor </a:t>
            </a:r>
            <a:r>
              <a:rPr dirty="0" sz="1200" spc="80">
                <a:solidFill>
                  <a:srgbClr val="E4DBE6"/>
                </a:solidFill>
                <a:latin typeface="Calibri"/>
                <a:cs typeface="Calibri"/>
              </a:rPr>
              <a:t>visits?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210047" y="4246791"/>
            <a:ext cx="4163695" cy="19748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750" b="1">
                <a:solidFill>
                  <a:srgbClr val="FFFFFF"/>
                </a:solidFill>
                <a:latin typeface="Trebuchet MS"/>
                <a:cs typeface="Trebuchet MS"/>
              </a:rPr>
              <a:t>Our</a:t>
            </a:r>
            <a:r>
              <a:rPr dirty="0" sz="1750" spc="-4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50" spc="-10" b="1">
                <a:solidFill>
                  <a:srgbClr val="FFFFFF"/>
                </a:solidFill>
                <a:latin typeface="Trebuchet MS"/>
                <a:cs typeface="Trebuchet MS"/>
              </a:rPr>
              <a:t>Innovation</a:t>
            </a:r>
            <a:endParaRPr sz="1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670"/>
              </a:spcBef>
            </a:pPr>
            <a:r>
              <a:rPr dirty="0" sz="1200" spc="165">
                <a:solidFill>
                  <a:srgbClr val="E4DBE6"/>
                </a:solidFill>
                <a:latin typeface="Calibri"/>
                <a:cs typeface="Calibri"/>
              </a:rPr>
              <a:t>An</a:t>
            </a:r>
            <a:r>
              <a:rPr dirty="0" sz="1200" spc="60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200" spc="95">
                <a:solidFill>
                  <a:srgbClr val="E4DBE6"/>
                </a:solidFill>
                <a:latin typeface="Calibri"/>
                <a:cs typeface="Calibri"/>
              </a:rPr>
              <a:t>intelligent,</a:t>
            </a:r>
            <a:r>
              <a:rPr dirty="0" sz="1200" spc="114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200" spc="125">
                <a:solidFill>
                  <a:srgbClr val="E4DBE6"/>
                </a:solidFill>
                <a:latin typeface="Calibri"/>
                <a:cs typeface="Calibri"/>
              </a:rPr>
              <a:t>multilingual</a:t>
            </a:r>
            <a:r>
              <a:rPr dirty="0" sz="1200" spc="114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200" spc="120">
                <a:solidFill>
                  <a:srgbClr val="E4DBE6"/>
                </a:solidFill>
                <a:latin typeface="Calibri"/>
                <a:cs typeface="Calibri"/>
              </a:rPr>
              <a:t>health</a:t>
            </a:r>
            <a:r>
              <a:rPr dirty="0" sz="1200" spc="90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200" spc="105">
                <a:solidFill>
                  <a:srgbClr val="E4DBE6"/>
                </a:solidFill>
                <a:latin typeface="Calibri"/>
                <a:cs typeface="Calibri"/>
              </a:rPr>
              <a:t>assistant</a:t>
            </a:r>
            <a:r>
              <a:rPr dirty="0" sz="1200" spc="80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200" spc="85">
                <a:solidFill>
                  <a:srgbClr val="E4DBE6"/>
                </a:solidFill>
                <a:latin typeface="Calibri"/>
                <a:cs typeface="Calibri"/>
              </a:rPr>
              <a:t>delivering: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4"/>
              </a:spcBef>
            </a:pPr>
            <a:endParaRPr sz="1200">
              <a:latin typeface="Calibri"/>
              <a:cs typeface="Calibri"/>
            </a:endParaRPr>
          </a:p>
          <a:p>
            <a:pPr marL="248285" indent="-235585">
              <a:lnSpc>
                <a:spcPct val="100000"/>
              </a:lnSpc>
              <a:buChar char="•"/>
              <a:tabLst>
                <a:tab pos="248285" algn="l"/>
              </a:tabLst>
            </a:pPr>
            <a:r>
              <a:rPr dirty="0" sz="1200" spc="114">
                <a:solidFill>
                  <a:srgbClr val="E4DBE6"/>
                </a:solidFill>
                <a:latin typeface="Calibri"/>
                <a:cs typeface="Calibri"/>
              </a:rPr>
              <a:t>Instant</a:t>
            </a:r>
            <a:r>
              <a:rPr dirty="0" sz="1200" spc="65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200" spc="140">
                <a:solidFill>
                  <a:srgbClr val="E4DBE6"/>
                </a:solidFill>
                <a:latin typeface="Calibri"/>
                <a:cs typeface="Calibri"/>
              </a:rPr>
              <a:t>medical</a:t>
            </a:r>
            <a:r>
              <a:rPr dirty="0" sz="1200" spc="100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200" spc="155">
                <a:solidFill>
                  <a:srgbClr val="E4DBE6"/>
                </a:solidFill>
                <a:latin typeface="Calibri"/>
                <a:cs typeface="Calibri"/>
              </a:rPr>
              <a:t>guidance</a:t>
            </a:r>
            <a:r>
              <a:rPr dirty="0" sz="1200" spc="80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200" spc="110">
                <a:solidFill>
                  <a:srgbClr val="E4DBE6"/>
                </a:solidFill>
                <a:latin typeface="Calibri"/>
                <a:cs typeface="Calibri"/>
              </a:rPr>
              <a:t>in</a:t>
            </a:r>
            <a:r>
              <a:rPr dirty="0" sz="1200" spc="70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200" spc="145">
                <a:solidFill>
                  <a:srgbClr val="E4DBE6"/>
                </a:solidFill>
                <a:latin typeface="Calibri"/>
                <a:cs typeface="Calibri"/>
              </a:rPr>
              <a:t>English</a:t>
            </a:r>
            <a:r>
              <a:rPr dirty="0" sz="1200" spc="70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200" spc="165">
                <a:solidFill>
                  <a:srgbClr val="E4DBE6"/>
                </a:solidFill>
                <a:latin typeface="Calibri"/>
                <a:cs typeface="Calibri"/>
              </a:rPr>
              <a:t>and</a:t>
            </a:r>
            <a:r>
              <a:rPr dirty="0" sz="1200" spc="75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200" spc="125">
                <a:solidFill>
                  <a:srgbClr val="E4DBE6"/>
                </a:solidFill>
                <a:latin typeface="Calibri"/>
                <a:cs typeface="Calibri"/>
              </a:rPr>
              <a:t>Hindi</a:t>
            </a:r>
            <a:endParaRPr sz="1200">
              <a:latin typeface="Calibri"/>
              <a:cs typeface="Calibri"/>
            </a:endParaRPr>
          </a:p>
          <a:p>
            <a:pPr marL="248285" indent="-235585">
              <a:lnSpc>
                <a:spcPct val="100000"/>
              </a:lnSpc>
              <a:spcBef>
                <a:spcPts val="925"/>
              </a:spcBef>
              <a:buChar char="•"/>
              <a:tabLst>
                <a:tab pos="248285" algn="l"/>
              </a:tabLst>
            </a:pPr>
            <a:r>
              <a:rPr dirty="0" sz="1200" spc="140">
                <a:solidFill>
                  <a:srgbClr val="E4DBE6"/>
                </a:solidFill>
                <a:latin typeface="Calibri"/>
                <a:cs typeface="Calibri"/>
              </a:rPr>
              <a:t>Continuous</a:t>
            </a:r>
            <a:r>
              <a:rPr dirty="0" sz="1200" spc="75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200" spc="120">
                <a:solidFill>
                  <a:srgbClr val="E4DBE6"/>
                </a:solidFill>
                <a:latin typeface="Calibri"/>
                <a:cs typeface="Calibri"/>
              </a:rPr>
              <a:t>health</a:t>
            </a:r>
            <a:r>
              <a:rPr dirty="0" sz="1200" spc="80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200" spc="125">
                <a:solidFill>
                  <a:srgbClr val="E4DBE6"/>
                </a:solidFill>
                <a:latin typeface="Calibri"/>
                <a:cs typeface="Calibri"/>
              </a:rPr>
              <a:t>progress</a:t>
            </a:r>
            <a:r>
              <a:rPr dirty="0" sz="1200" spc="80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200" spc="125">
                <a:solidFill>
                  <a:srgbClr val="E4DBE6"/>
                </a:solidFill>
                <a:latin typeface="Calibri"/>
                <a:cs typeface="Calibri"/>
              </a:rPr>
              <a:t>monitoring</a:t>
            </a:r>
            <a:endParaRPr sz="1200">
              <a:latin typeface="Calibri"/>
              <a:cs typeface="Calibri"/>
            </a:endParaRPr>
          </a:p>
          <a:p>
            <a:pPr marL="248285" indent="-235585">
              <a:lnSpc>
                <a:spcPct val="100000"/>
              </a:lnSpc>
              <a:spcBef>
                <a:spcPts val="915"/>
              </a:spcBef>
              <a:buChar char="•"/>
              <a:tabLst>
                <a:tab pos="248285" algn="l"/>
              </a:tabLst>
            </a:pPr>
            <a:r>
              <a:rPr dirty="0" sz="1200" spc="125">
                <a:solidFill>
                  <a:srgbClr val="E4DBE6"/>
                </a:solidFill>
                <a:latin typeface="Calibri"/>
                <a:cs typeface="Calibri"/>
              </a:rPr>
              <a:t>Integrated</a:t>
            </a:r>
            <a:r>
              <a:rPr dirty="0" sz="1200" spc="100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200" spc="155">
                <a:solidFill>
                  <a:srgbClr val="E4DBE6"/>
                </a:solidFill>
                <a:latin typeface="Calibri"/>
                <a:cs typeface="Calibri"/>
              </a:rPr>
              <a:t>emergency</a:t>
            </a:r>
            <a:r>
              <a:rPr dirty="0" sz="1200" spc="125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200" spc="120">
                <a:solidFill>
                  <a:srgbClr val="E4DBE6"/>
                </a:solidFill>
                <a:latin typeface="Calibri"/>
                <a:cs typeface="Calibri"/>
              </a:rPr>
              <a:t>response</a:t>
            </a:r>
            <a:r>
              <a:rPr dirty="0" sz="1200" spc="95">
                <a:solidFill>
                  <a:srgbClr val="E4DBE6"/>
                </a:solidFill>
                <a:latin typeface="Calibri"/>
                <a:cs typeface="Calibri"/>
              </a:rPr>
              <a:t> capabilities</a:t>
            </a:r>
            <a:endParaRPr sz="1200">
              <a:latin typeface="Calibri"/>
              <a:cs typeface="Calibri"/>
            </a:endParaRPr>
          </a:p>
          <a:p>
            <a:pPr marL="248285" indent="-235585">
              <a:lnSpc>
                <a:spcPct val="100000"/>
              </a:lnSpc>
              <a:spcBef>
                <a:spcPts val="919"/>
              </a:spcBef>
              <a:buChar char="•"/>
              <a:tabLst>
                <a:tab pos="248285" algn="l"/>
              </a:tabLst>
            </a:pPr>
            <a:r>
              <a:rPr dirty="0" sz="1200" spc="140">
                <a:solidFill>
                  <a:srgbClr val="E4DBE6"/>
                </a:solidFill>
                <a:latin typeface="Calibri"/>
                <a:cs typeface="Calibri"/>
              </a:rPr>
              <a:t>Comprehensive</a:t>
            </a:r>
            <a:r>
              <a:rPr dirty="0" sz="1200" spc="120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200" spc="170">
                <a:solidFill>
                  <a:srgbClr val="E4DBE6"/>
                </a:solidFill>
                <a:latin typeface="Calibri"/>
                <a:cs typeface="Calibri"/>
              </a:rPr>
              <a:t>admin</a:t>
            </a:r>
            <a:r>
              <a:rPr dirty="0" sz="1200" spc="80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200" spc="110">
                <a:solidFill>
                  <a:srgbClr val="E4DBE6"/>
                </a:solidFill>
                <a:latin typeface="Calibri"/>
                <a:cs typeface="Calibri"/>
              </a:rPr>
              <a:t>analytics</a:t>
            </a:r>
            <a:r>
              <a:rPr dirty="0" sz="1200" spc="95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200" spc="130">
                <a:solidFill>
                  <a:srgbClr val="E4DBE6"/>
                </a:solidFill>
                <a:latin typeface="Calibri"/>
                <a:cs typeface="Calibri"/>
              </a:rPr>
              <a:t>dashboard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811767" y="6361176"/>
            <a:ext cx="1168907" cy="2956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4476" y="1057656"/>
            <a:ext cx="3963923" cy="5658611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1848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850"/>
              <a:t>Empowering</a:t>
            </a:r>
            <a:r>
              <a:rPr dirty="0" sz="1850" spc="-20"/>
              <a:t> </a:t>
            </a:r>
            <a:r>
              <a:rPr dirty="0" sz="1850" spc="75"/>
              <a:t>Users</a:t>
            </a:r>
            <a:r>
              <a:rPr dirty="0" sz="1850" spc="-15"/>
              <a:t> </a:t>
            </a:r>
            <a:r>
              <a:rPr dirty="0" sz="1850" spc="-20"/>
              <a:t>with</a:t>
            </a:r>
            <a:r>
              <a:rPr dirty="0" sz="1850" spc="-5"/>
              <a:t> </a:t>
            </a:r>
            <a:r>
              <a:rPr dirty="0" sz="1850" spc="-30"/>
              <a:t>Intelligent</a:t>
            </a:r>
            <a:r>
              <a:rPr dirty="0" sz="1850" spc="-15"/>
              <a:t> </a:t>
            </a:r>
            <a:r>
              <a:rPr dirty="0" sz="1850" spc="-10"/>
              <a:t>Features</a:t>
            </a:r>
            <a:endParaRPr sz="1850"/>
          </a:p>
        </p:txBody>
      </p:sp>
      <p:grpSp>
        <p:nvGrpSpPr>
          <p:cNvPr id="4" name="object 4"/>
          <p:cNvGrpSpPr/>
          <p:nvPr/>
        </p:nvGrpSpPr>
        <p:grpSpPr>
          <a:xfrm>
            <a:off x="332231" y="1906524"/>
            <a:ext cx="5622290" cy="927100"/>
            <a:chOff x="332231" y="1906524"/>
            <a:chExt cx="5622290" cy="927100"/>
          </a:xfrm>
        </p:grpSpPr>
        <p:sp>
          <p:nvSpPr>
            <p:cNvPr id="5" name="object 5"/>
            <p:cNvSpPr/>
            <p:nvPr/>
          </p:nvSpPr>
          <p:spPr>
            <a:xfrm>
              <a:off x="332231" y="1906524"/>
              <a:ext cx="5622290" cy="927100"/>
            </a:xfrm>
            <a:custGeom>
              <a:avLst/>
              <a:gdLst/>
              <a:ahLst/>
              <a:cxnLst/>
              <a:rect l="l" t="t" r="r" b="b"/>
              <a:pathLst>
                <a:path w="5622290" h="927100">
                  <a:moveTo>
                    <a:pt x="5582412" y="926592"/>
                  </a:moveTo>
                  <a:lnTo>
                    <a:pt x="41148" y="926592"/>
                  </a:lnTo>
                  <a:lnTo>
                    <a:pt x="25074" y="923377"/>
                  </a:lnTo>
                  <a:lnTo>
                    <a:pt x="12001" y="914590"/>
                  </a:lnTo>
                  <a:lnTo>
                    <a:pt x="3214" y="901517"/>
                  </a:lnTo>
                  <a:lnTo>
                    <a:pt x="0" y="885444"/>
                  </a:lnTo>
                  <a:lnTo>
                    <a:pt x="0" y="39624"/>
                  </a:lnTo>
                  <a:lnTo>
                    <a:pt x="3214" y="23788"/>
                  </a:lnTo>
                  <a:lnTo>
                    <a:pt x="12001" y="11239"/>
                  </a:lnTo>
                  <a:lnTo>
                    <a:pt x="25074" y="2976"/>
                  </a:lnTo>
                  <a:lnTo>
                    <a:pt x="41148" y="0"/>
                  </a:lnTo>
                  <a:lnTo>
                    <a:pt x="5582412" y="0"/>
                  </a:lnTo>
                  <a:lnTo>
                    <a:pt x="5598247" y="2976"/>
                  </a:lnTo>
                  <a:lnTo>
                    <a:pt x="5610796" y="11239"/>
                  </a:lnTo>
                  <a:lnTo>
                    <a:pt x="5619059" y="23788"/>
                  </a:lnTo>
                  <a:lnTo>
                    <a:pt x="5622035" y="39624"/>
                  </a:lnTo>
                  <a:lnTo>
                    <a:pt x="5622035" y="885444"/>
                  </a:lnTo>
                  <a:lnTo>
                    <a:pt x="5619059" y="901517"/>
                  </a:lnTo>
                  <a:lnTo>
                    <a:pt x="5610796" y="914590"/>
                  </a:lnTo>
                  <a:lnTo>
                    <a:pt x="5598247" y="923377"/>
                  </a:lnTo>
                  <a:lnTo>
                    <a:pt x="5582412" y="926592"/>
                  </a:lnTo>
                  <a:close/>
                </a:path>
              </a:pathLst>
            </a:custGeom>
            <a:solidFill>
              <a:srgbClr val="282D5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428243" y="2001012"/>
              <a:ext cx="285115" cy="285115"/>
            </a:xfrm>
            <a:custGeom>
              <a:avLst/>
              <a:gdLst/>
              <a:ahLst/>
              <a:cxnLst/>
              <a:rect l="l" t="t" r="r" b="b"/>
              <a:pathLst>
                <a:path w="285115" h="285114">
                  <a:moveTo>
                    <a:pt x="141732" y="284988"/>
                  </a:moveTo>
                  <a:lnTo>
                    <a:pt x="97145" y="277697"/>
                  </a:lnTo>
                  <a:lnTo>
                    <a:pt x="58265" y="257385"/>
                  </a:lnTo>
                  <a:lnTo>
                    <a:pt x="27505" y="226393"/>
                  </a:lnTo>
                  <a:lnTo>
                    <a:pt x="7278" y="187061"/>
                  </a:lnTo>
                  <a:lnTo>
                    <a:pt x="0" y="141732"/>
                  </a:lnTo>
                  <a:lnTo>
                    <a:pt x="7278" y="97145"/>
                  </a:lnTo>
                  <a:lnTo>
                    <a:pt x="27505" y="58265"/>
                  </a:lnTo>
                  <a:lnTo>
                    <a:pt x="58265" y="27505"/>
                  </a:lnTo>
                  <a:lnTo>
                    <a:pt x="97145" y="7278"/>
                  </a:lnTo>
                  <a:lnTo>
                    <a:pt x="141732" y="0"/>
                  </a:lnTo>
                  <a:lnTo>
                    <a:pt x="187061" y="7278"/>
                  </a:lnTo>
                  <a:lnTo>
                    <a:pt x="226393" y="27505"/>
                  </a:lnTo>
                  <a:lnTo>
                    <a:pt x="257385" y="58265"/>
                  </a:lnTo>
                  <a:lnTo>
                    <a:pt x="277697" y="97145"/>
                  </a:lnTo>
                  <a:lnTo>
                    <a:pt x="284988" y="141732"/>
                  </a:lnTo>
                  <a:lnTo>
                    <a:pt x="277697" y="187061"/>
                  </a:lnTo>
                  <a:lnTo>
                    <a:pt x="257385" y="226393"/>
                  </a:lnTo>
                  <a:lnTo>
                    <a:pt x="226393" y="257385"/>
                  </a:lnTo>
                  <a:lnTo>
                    <a:pt x="187061" y="277697"/>
                  </a:lnTo>
                  <a:lnTo>
                    <a:pt x="141732" y="284988"/>
                  </a:lnTo>
                  <a:close/>
                </a:path>
              </a:pathLst>
            </a:custGeom>
            <a:solidFill>
              <a:srgbClr val="EDAEF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9871" y="2072640"/>
              <a:ext cx="140207" cy="137159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415502" y="2361719"/>
            <a:ext cx="2907665" cy="3670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00" b="1">
                <a:solidFill>
                  <a:srgbClr val="E4DBE6"/>
                </a:solidFill>
                <a:latin typeface="Trebuchet MS"/>
                <a:cs typeface="Trebuchet MS"/>
              </a:rPr>
              <a:t>AI</a:t>
            </a:r>
            <a:r>
              <a:rPr dirty="0" sz="900" spc="-20" b="1">
                <a:solidFill>
                  <a:srgbClr val="E4DBE6"/>
                </a:solidFill>
                <a:latin typeface="Trebuchet MS"/>
                <a:cs typeface="Trebuchet MS"/>
              </a:rPr>
              <a:t> </a:t>
            </a:r>
            <a:r>
              <a:rPr dirty="0" sz="900" spc="50" b="1">
                <a:solidFill>
                  <a:srgbClr val="E4DBE6"/>
                </a:solidFill>
                <a:latin typeface="Trebuchet MS"/>
                <a:cs typeface="Trebuchet MS"/>
              </a:rPr>
              <a:t>Symptom</a:t>
            </a:r>
            <a:r>
              <a:rPr dirty="0" sz="900" spc="-30" b="1">
                <a:solidFill>
                  <a:srgbClr val="E4DBE6"/>
                </a:solidFill>
                <a:latin typeface="Trebuchet MS"/>
                <a:cs typeface="Trebuchet MS"/>
              </a:rPr>
              <a:t> </a:t>
            </a:r>
            <a:r>
              <a:rPr dirty="0" sz="900" spc="-10" b="1">
                <a:solidFill>
                  <a:srgbClr val="E4DBE6"/>
                </a:solidFill>
                <a:latin typeface="Trebuchet MS"/>
                <a:cs typeface="Trebuchet MS"/>
              </a:rPr>
              <a:t>Analysis</a:t>
            </a:r>
            <a:endParaRPr sz="9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35"/>
              </a:spcBef>
            </a:pPr>
            <a:r>
              <a:rPr dirty="0" sz="700" spc="100">
                <a:solidFill>
                  <a:srgbClr val="E4DBE6"/>
                </a:solidFill>
                <a:latin typeface="Calibri"/>
                <a:cs typeface="Calibri"/>
              </a:rPr>
              <a:t>Advanced</a:t>
            </a:r>
            <a:r>
              <a:rPr dirty="0" sz="700" spc="65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700" spc="80">
                <a:solidFill>
                  <a:srgbClr val="E4DBE6"/>
                </a:solidFill>
                <a:latin typeface="Calibri"/>
                <a:cs typeface="Calibri"/>
              </a:rPr>
              <a:t>diagnostic</a:t>
            </a:r>
            <a:r>
              <a:rPr dirty="0" sz="700" spc="75">
                <a:solidFill>
                  <a:srgbClr val="E4DBE6"/>
                </a:solidFill>
                <a:latin typeface="Calibri"/>
                <a:cs typeface="Calibri"/>
              </a:rPr>
              <a:t> assistance</a:t>
            </a:r>
            <a:r>
              <a:rPr dirty="0" sz="700" spc="105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700" spc="90">
                <a:solidFill>
                  <a:srgbClr val="E4DBE6"/>
                </a:solidFill>
                <a:latin typeface="Calibri"/>
                <a:cs typeface="Calibri"/>
              </a:rPr>
              <a:t>powered</a:t>
            </a:r>
            <a:r>
              <a:rPr dirty="0" sz="700" spc="55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700" spc="100">
                <a:solidFill>
                  <a:srgbClr val="E4DBE6"/>
                </a:solidFill>
                <a:latin typeface="Calibri"/>
                <a:cs typeface="Calibri"/>
              </a:rPr>
              <a:t>by</a:t>
            </a:r>
            <a:r>
              <a:rPr dirty="0" sz="700" spc="35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700" spc="105">
                <a:solidFill>
                  <a:srgbClr val="E4DBE6"/>
                </a:solidFill>
                <a:latin typeface="Calibri"/>
                <a:cs typeface="Calibri"/>
              </a:rPr>
              <a:t>machine</a:t>
            </a:r>
            <a:r>
              <a:rPr dirty="0" sz="700" spc="55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700" spc="70">
                <a:solidFill>
                  <a:srgbClr val="E4DBE6"/>
                </a:solidFill>
                <a:latin typeface="Calibri"/>
                <a:cs typeface="Calibri"/>
              </a:rPr>
              <a:t>learning</a:t>
            </a:r>
            <a:endParaRPr sz="7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32231" y="2927603"/>
            <a:ext cx="5622290" cy="927100"/>
            <a:chOff x="332231" y="2927603"/>
            <a:chExt cx="5622290" cy="927100"/>
          </a:xfrm>
        </p:grpSpPr>
        <p:sp>
          <p:nvSpPr>
            <p:cNvPr id="10" name="object 10"/>
            <p:cNvSpPr/>
            <p:nvPr/>
          </p:nvSpPr>
          <p:spPr>
            <a:xfrm>
              <a:off x="332231" y="2927603"/>
              <a:ext cx="5622290" cy="927100"/>
            </a:xfrm>
            <a:custGeom>
              <a:avLst/>
              <a:gdLst/>
              <a:ahLst/>
              <a:cxnLst/>
              <a:rect l="l" t="t" r="r" b="b"/>
              <a:pathLst>
                <a:path w="5622290" h="927100">
                  <a:moveTo>
                    <a:pt x="5582412" y="926592"/>
                  </a:moveTo>
                  <a:lnTo>
                    <a:pt x="41148" y="926592"/>
                  </a:lnTo>
                  <a:lnTo>
                    <a:pt x="25074" y="923401"/>
                  </a:lnTo>
                  <a:lnTo>
                    <a:pt x="12001" y="914781"/>
                  </a:lnTo>
                  <a:lnTo>
                    <a:pt x="3214" y="902160"/>
                  </a:lnTo>
                  <a:lnTo>
                    <a:pt x="0" y="886967"/>
                  </a:lnTo>
                  <a:lnTo>
                    <a:pt x="0" y="39624"/>
                  </a:lnTo>
                  <a:lnTo>
                    <a:pt x="3214" y="24431"/>
                  </a:lnTo>
                  <a:lnTo>
                    <a:pt x="12001" y="11811"/>
                  </a:lnTo>
                  <a:lnTo>
                    <a:pt x="25074" y="3190"/>
                  </a:lnTo>
                  <a:lnTo>
                    <a:pt x="41148" y="0"/>
                  </a:lnTo>
                  <a:lnTo>
                    <a:pt x="5582412" y="0"/>
                  </a:lnTo>
                  <a:lnTo>
                    <a:pt x="5598247" y="3190"/>
                  </a:lnTo>
                  <a:lnTo>
                    <a:pt x="5610796" y="11811"/>
                  </a:lnTo>
                  <a:lnTo>
                    <a:pt x="5619059" y="24431"/>
                  </a:lnTo>
                  <a:lnTo>
                    <a:pt x="5622035" y="39624"/>
                  </a:lnTo>
                  <a:lnTo>
                    <a:pt x="5622035" y="886967"/>
                  </a:lnTo>
                  <a:lnTo>
                    <a:pt x="5619059" y="902160"/>
                  </a:lnTo>
                  <a:lnTo>
                    <a:pt x="5610796" y="914781"/>
                  </a:lnTo>
                  <a:lnTo>
                    <a:pt x="5598247" y="923401"/>
                  </a:lnTo>
                  <a:lnTo>
                    <a:pt x="5582412" y="926592"/>
                  </a:lnTo>
                  <a:close/>
                </a:path>
              </a:pathLst>
            </a:custGeom>
            <a:solidFill>
              <a:srgbClr val="282D5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28243" y="3022092"/>
              <a:ext cx="285115" cy="285115"/>
            </a:xfrm>
            <a:custGeom>
              <a:avLst/>
              <a:gdLst/>
              <a:ahLst/>
              <a:cxnLst/>
              <a:rect l="l" t="t" r="r" b="b"/>
              <a:pathLst>
                <a:path w="285115" h="285114">
                  <a:moveTo>
                    <a:pt x="141732" y="284988"/>
                  </a:moveTo>
                  <a:lnTo>
                    <a:pt x="97145" y="277709"/>
                  </a:lnTo>
                  <a:lnTo>
                    <a:pt x="58265" y="257482"/>
                  </a:lnTo>
                  <a:lnTo>
                    <a:pt x="27505" y="226722"/>
                  </a:lnTo>
                  <a:lnTo>
                    <a:pt x="7278" y="187842"/>
                  </a:lnTo>
                  <a:lnTo>
                    <a:pt x="0" y="143256"/>
                  </a:lnTo>
                  <a:lnTo>
                    <a:pt x="7278" y="97926"/>
                  </a:lnTo>
                  <a:lnTo>
                    <a:pt x="27505" y="58594"/>
                  </a:lnTo>
                  <a:lnTo>
                    <a:pt x="58265" y="27602"/>
                  </a:lnTo>
                  <a:lnTo>
                    <a:pt x="97145" y="7290"/>
                  </a:lnTo>
                  <a:lnTo>
                    <a:pt x="141732" y="0"/>
                  </a:lnTo>
                  <a:lnTo>
                    <a:pt x="187061" y="7290"/>
                  </a:lnTo>
                  <a:lnTo>
                    <a:pt x="226393" y="27602"/>
                  </a:lnTo>
                  <a:lnTo>
                    <a:pt x="257385" y="58594"/>
                  </a:lnTo>
                  <a:lnTo>
                    <a:pt x="277697" y="97926"/>
                  </a:lnTo>
                  <a:lnTo>
                    <a:pt x="284988" y="143256"/>
                  </a:lnTo>
                  <a:lnTo>
                    <a:pt x="277697" y="187842"/>
                  </a:lnTo>
                  <a:lnTo>
                    <a:pt x="257385" y="226722"/>
                  </a:lnTo>
                  <a:lnTo>
                    <a:pt x="226393" y="257482"/>
                  </a:lnTo>
                  <a:lnTo>
                    <a:pt x="187061" y="277709"/>
                  </a:lnTo>
                  <a:lnTo>
                    <a:pt x="141732" y="284988"/>
                  </a:lnTo>
                  <a:close/>
                </a:path>
              </a:pathLst>
            </a:custGeom>
            <a:solidFill>
              <a:srgbClr val="EDAEF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9871" y="3095243"/>
              <a:ext cx="140207" cy="137159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415502" y="3384290"/>
            <a:ext cx="2182495" cy="36576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00" b="1">
                <a:solidFill>
                  <a:srgbClr val="E4DBE6"/>
                </a:solidFill>
                <a:latin typeface="Trebuchet MS"/>
                <a:cs typeface="Trebuchet MS"/>
              </a:rPr>
              <a:t>Multilingual</a:t>
            </a:r>
            <a:r>
              <a:rPr dirty="0" sz="900" spc="75" b="1">
                <a:solidFill>
                  <a:srgbClr val="E4DBE6"/>
                </a:solidFill>
                <a:latin typeface="Trebuchet MS"/>
                <a:cs typeface="Trebuchet MS"/>
              </a:rPr>
              <a:t> </a:t>
            </a:r>
            <a:r>
              <a:rPr dirty="0" sz="900" spc="-10" b="1">
                <a:solidFill>
                  <a:srgbClr val="E4DBE6"/>
                </a:solidFill>
                <a:latin typeface="Trebuchet MS"/>
                <a:cs typeface="Trebuchet MS"/>
              </a:rPr>
              <a:t>Support</a:t>
            </a:r>
            <a:endParaRPr sz="9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25"/>
              </a:spcBef>
            </a:pPr>
            <a:r>
              <a:rPr dirty="0" sz="700" spc="90">
                <a:solidFill>
                  <a:srgbClr val="E4DBE6"/>
                </a:solidFill>
                <a:latin typeface="Calibri"/>
                <a:cs typeface="Calibri"/>
              </a:rPr>
              <a:t>Seamless</a:t>
            </a:r>
            <a:r>
              <a:rPr dirty="0" sz="700" spc="70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700" spc="100">
                <a:solidFill>
                  <a:srgbClr val="E4DBE6"/>
                </a:solidFill>
                <a:latin typeface="Calibri"/>
                <a:cs typeface="Calibri"/>
              </a:rPr>
              <a:t>communication</a:t>
            </a:r>
            <a:r>
              <a:rPr dirty="0" sz="700" spc="60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700" spc="75">
                <a:solidFill>
                  <a:srgbClr val="E4DBE6"/>
                </a:solidFill>
                <a:latin typeface="Calibri"/>
                <a:cs typeface="Calibri"/>
              </a:rPr>
              <a:t>in</a:t>
            </a:r>
            <a:r>
              <a:rPr dirty="0" sz="700" spc="40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700" spc="95">
                <a:solidFill>
                  <a:srgbClr val="E4DBE6"/>
                </a:solidFill>
                <a:latin typeface="Calibri"/>
                <a:cs typeface="Calibri"/>
              </a:rPr>
              <a:t>English</a:t>
            </a:r>
            <a:r>
              <a:rPr dirty="0" sz="700" spc="60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700" spc="105">
                <a:solidFill>
                  <a:srgbClr val="E4DBE6"/>
                </a:solidFill>
                <a:latin typeface="Calibri"/>
                <a:cs typeface="Calibri"/>
              </a:rPr>
              <a:t>and</a:t>
            </a:r>
            <a:r>
              <a:rPr dirty="0" sz="700" spc="40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700" spc="70">
                <a:solidFill>
                  <a:srgbClr val="E4DBE6"/>
                </a:solidFill>
                <a:latin typeface="Calibri"/>
                <a:cs typeface="Calibri"/>
              </a:rPr>
              <a:t>Hindi</a:t>
            </a:r>
            <a:endParaRPr sz="7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32231" y="3948684"/>
            <a:ext cx="5622290" cy="927100"/>
            <a:chOff x="332231" y="3948684"/>
            <a:chExt cx="5622290" cy="927100"/>
          </a:xfrm>
        </p:grpSpPr>
        <p:sp>
          <p:nvSpPr>
            <p:cNvPr id="15" name="object 15"/>
            <p:cNvSpPr/>
            <p:nvPr/>
          </p:nvSpPr>
          <p:spPr>
            <a:xfrm>
              <a:off x="332231" y="3948684"/>
              <a:ext cx="5622290" cy="927100"/>
            </a:xfrm>
            <a:custGeom>
              <a:avLst/>
              <a:gdLst/>
              <a:ahLst/>
              <a:cxnLst/>
              <a:rect l="l" t="t" r="r" b="b"/>
              <a:pathLst>
                <a:path w="5622290" h="927100">
                  <a:moveTo>
                    <a:pt x="5582412" y="926592"/>
                  </a:moveTo>
                  <a:lnTo>
                    <a:pt x="41148" y="926592"/>
                  </a:lnTo>
                  <a:lnTo>
                    <a:pt x="25074" y="923401"/>
                  </a:lnTo>
                  <a:lnTo>
                    <a:pt x="12001" y="914781"/>
                  </a:lnTo>
                  <a:lnTo>
                    <a:pt x="3214" y="902160"/>
                  </a:lnTo>
                  <a:lnTo>
                    <a:pt x="0" y="886967"/>
                  </a:lnTo>
                  <a:lnTo>
                    <a:pt x="0" y="39624"/>
                  </a:lnTo>
                  <a:lnTo>
                    <a:pt x="3214" y="24431"/>
                  </a:lnTo>
                  <a:lnTo>
                    <a:pt x="12001" y="11811"/>
                  </a:lnTo>
                  <a:lnTo>
                    <a:pt x="25074" y="3190"/>
                  </a:lnTo>
                  <a:lnTo>
                    <a:pt x="41148" y="0"/>
                  </a:lnTo>
                  <a:lnTo>
                    <a:pt x="5582412" y="0"/>
                  </a:lnTo>
                  <a:lnTo>
                    <a:pt x="5598247" y="3190"/>
                  </a:lnTo>
                  <a:lnTo>
                    <a:pt x="5610796" y="11811"/>
                  </a:lnTo>
                  <a:lnTo>
                    <a:pt x="5619059" y="24431"/>
                  </a:lnTo>
                  <a:lnTo>
                    <a:pt x="5622035" y="39624"/>
                  </a:lnTo>
                  <a:lnTo>
                    <a:pt x="5622035" y="886967"/>
                  </a:lnTo>
                  <a:lnTo>
                    <a:pt x="5619059" y="902160"/>
                  </a:lnTo>
                  <a:lnTo>
                    <a:pt x="5610796" y="914781"/>
                  </a:lnTo>
                  <a:lnTo>
                    <a:pt x="5598247" y="923401"/>
                  </a:lnTo>
                  <a:lnTo>
                    <a:pt x="5582412" y="926592"/>
                  </a:lnTo>
                  <a:close/>
                </a:path>
              </a:pathLst>
            </a:custGeom>
            <a:solidFill>
              <a:srgbClr val="282D5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428243" y="4043172"/>
              <a:ext cx="285115" cy="285115"/>
            </a:xfrm>
            <a:custGeom>
              <a:avLst/>
              <a:gdLst/>
              <a:ahLst/>
              <a:cxnLst/>
              <a:rect l="l" t="t" r="r" b="b"/>
              <a:pathLst>
                <a:path w="285115" h="285114">
                  <a:moveTo>
                    <a:pt x="141732" y="284988"/>
                  </a:moveTo>
                  <a:lnTo>
                    <a:pt x="97145" y="277709"/>
                  </a:lnTo>
                  <a:lnTo>
                    <a:pt x="58265" y="257482"/>
                  </a:lnTo>
                  <a:lnTo>
                    <a:pt x="27505" y="226722"/>
                  </a:lnTo>
                  <a:lnTo>
                    <a:pt x="7278" y="187842"/>
                  </a:lnTo>
                  <a:lnTo>
                    <a:pt x="0" y="143256"/>
                  </a:lnTo>
                  <a:lnTo>
                    <a:pt x="7278" y="97926"/>
                  </a:lnTo>
                  <a:lnTo>
                    <a:pt x="27505" y="58594"/>
                  </a:lnTo>
                  <a:lnTo>
                    <a:pt x="58265" y="27602"/>
                  </a:lnTo>
                  <a:lnTo>
                    <a:pt x="97145" y="7290"/>
                  </a:lnTo>
                  <a:lnTo>
                    <a:pt x="141732" y="0"/>
                  </a:lnTo>
                  <a:lnTo>
                    <a:pt x="187061" y="7290"/>
                  </a:lnTo>
                  <a:lnTo>
                    <a:pt x="226393" y="27602"/>
                  </a:lnTo>
                  <a:lnTo>
                    <a:pt x="257385" y="58594"/>
                  </a:lnTo>
                  <a:lnTo>
                    <a:pt x="277697" y="97926"/>
                  </a:lnTo>
                  <a:lnTo>
                    <a:pt x="284988" y="143256"/>
                  </a:lnTo>
                  <a:lnTo>
                    <a:pt x="277697" y="187842"/>
                  </a:lnTo>
                  <a:lnTo>
                    <a:pt x="257385" y="226722"/>
                  </a:lnTo>
                  <a:lnTo>
                    <a:pt x="226393" y="257482"/>
                  </a:lnTo>
                  <a:lnTo>
                    <a:pt x="187061" y="277709"/>
                  </a:lnTo>
                  <a:lnTo>
                    <a:pt x="141732" y="284988"/>
                  </a:lnTo>
                  <a:close/>
                </a:path>
              </a:pathLst>
            </a:custGeom>
            <a:solidFill>
              <a:srgbClr val="EDAEF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99871" y="4117848"/>
              <a:ext cx="140207" cy="137159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415502" y="4405334"/>
            <a:ext cx="2485390" cy="36576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00" spc="10" b="1">
                <a:solidFill>
                  <a:srgbClr val="E4DBE6"/>
                </a:solidFill>
                <a:latin typeface="Trebuchet MS"/>
                <a:cs typeface="Trebuchet MS"/>
              </a:rPr>
              <a:t>Health</a:t>
            </a:r>
            <a:r>
              <a:rPr dirty="0" sz="900" spc="25" b="1">
                <a:solidFill>
                  <a:srgbClr val="E4DBE6"/>
                </a:solidFill>
                <a:latin typeface="Trebuchet MS"/>
                <a:cs typeface="Trebuchet MS"/>
              </a:rPr>
              <a:t> </a:t>
            </a:r>
            <a:r>
              <a:rPr dirty="0" sz="900" spc="10" b="1">
                <a:solidFill>
                  <a:srgbClr val="E4DBE6"/>
                </a:solidFill>
                <a:latin typeface="Trebuchet MS"/>
                <a:cs typeface="Trebuchet MS"/>
              </a:rPr>
              <a:t>Score</a:t>
            </a:r>
            <a:r>
              <a:rPr dirty="0" sz="900" spc="15" b="1">
                <a:solidFill>
                  <a:srgbClr val="E4DBE6"/>
                </a:solidFill>
                <a:latin typeface="Trebuchet MS"/>
                <a:cs typeface="Trebuchet MS"/>
              </a:rPr>
              <a:t> </a:t>
            </a:r>
            <a:r>
              <a:rPr dirty="0" sz="900" spc="-10" b="1">
                <a:solidFill>
                  <a:srgbClr val="E4DBE6"/>
                </a:solidFill>
                <a:latin typeface="Trebuchet MS"/>
                <a:cs typeface="Trebuchet MS"/>
              </a:rPr>
              <a:t>Tracking</a:t>
            </a:r>
            <a:endParaRPr sz="9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25"/>
              </a:spcBef>
            </a:pPr>
            <a:r>
              <a:rPr dirty="0" sz="700" spc="75">
                <a:solidFill>
                  <a:srgbClr val="E4DBE6"/>
                </a:solidFill>
                <a:latin typeface="Calibri"/>
                <a:cs typeface="Calibri"/>
              </a:rPr>
              <a:t>Real-</a:t>
            </a:r>
            <a:r>
              <a:rPr dirty="0" sz="700" spc="85">
                <a:solidFill>
                  <a:srgbClr val="E4DBE6"/>
                </a:solidFill>
                <a:latin typeface="Calibri"/>
                <a:cs typeface="Calibri"/>
              </a:rPr>
              <a:t>time</a:t>
            </a:r>
            <a:r>
              <a:rPr dirty="0" sz="700" spc="100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700" spc="75">
                <a:solidFill>
                  <a:srgbClr val="E4DBE6"/>
                </a:solidFill>
                <a:latin typeface="Calibri"/>
                <a:cs typeface="Calibri"/>
              </a:rPr>
              <a:t>wellness</a:t>
            </a:r>
            <a:r>
              <a:rPr dirty="0" sz="700" spc="60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700" spc="80">
                <a:solidFill>
                  <a:srgbClr val="E4DBE6"/>
                </a:solidFill>
                <a:latin typeface="Calibri"/>
                <a:cs typeface="Calibri"/>
              </a:rPr>
              <a:t>metrics</a:t>
            </a:r>
            <a:r>
              <a:rPr dirty="0" sz="700" spc="70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700" spc="105">
                <a:solidFill>
                  <a:srgbClr val="E4DBE6"/>
                </a:solidFill>
                <a:latin typeface="Calibri"/>
                <a:cs typeface="Calibri"/>
              </a:rPr>
              <a:t>and</a:t>
            </a:r>
            <a:r>
              <a:rPr dirty="0" sz="700" spc="50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700" spc="80">
                <a:solidFill>
                  <a:srgbClr val="E4DBE6"/>
                </a:solidFill>
                <a:latin typeface="Calibri"/>
                <a:cs typeface="Calibri"/>
              </a:rPr>
              <a:t>progress</a:t>
            </a:r>
            <a:r>
              <a:rPr dirty="0" sz="700" spc="65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700" spc="55">
                <a:solidFill>
                  <a:srgbClr val="E4DBE6"/>
                </a:solidFill>
                <a:latin typeface="Calibri"/>
                <a:cs typeface="Calibri"/>
              </a:rPr>
              <a:t>visualisation</a:t>
            </a:r>
            <a:endParaRPr sz="7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32231" y="4969763"/>
            <a:ext cx="5622290" cy="927100"/>
            <a:chOff x="332231" y="4969763"/>
            <a:chExt cx="5622290" cy="927100"/>
          </a:xfrm>
        </p:grpSpPr>
        <p:sp>
          <p:nvSpPr>
            <p:cNvPr id="20" name="object 20"/>
            <p:cNvSpPr/>
            <p:nvPr/>
          </p:nvSpPr>
          <p:spPr>
            <a:xfrm>
              <a:off x="332231" y="4969763"/>
              <a:ext cx="5622290" cy="927100"/>
            </a:xfrm>
            <a:custGeom>
              <a:avLst/>
              <a:gdLst/>
              <a:ahLst/>
              <a:cxnLst/>
              <a:rect l="l" t="t" r="r" b="b"/>
              <a:pathLst>
                <a:path w="5622290" h="927100">
                  <a:moveTo>
                    <a:pt x="5582412" y="926592"/>
                  </a:moveTo>
                  <a:lnTo>
                    <a:pt x="41148" y="926592"/>
                  </a:lnTo>
                  <a:lnTo>
                    <a:pt x="25074" y="923615"/>
                  </a:lnTo>
                  <a:lnTo>
                    <a:pt x="12001" y="915352"/>
                  </a:lnTo>
                  <a:lnTo>
                    <a:pt x="3214" y="902803"/>
                  </a:lnTo>
                  <a:lnTo>
                    <a:pt x="0" y="886967"/>
                  </a:lnTo>
                  <a:lnTo>
                    <a:pt x="0" y="39624"/>
                  </a:lnTo>
                  <a:lnTo>
                    <a:pt x="3214" y="24431"/>
                  </a:lnTo>
                  <a:lnTo>
                    <a:pt x="12001" y="11811"/>
                  </a:lnTo>
                  <a:lnTo>
                    <a:pt x="25074" y="3190"/>
                  </a:lnTo>
                  <a:lnTo>
                    <a:pt x="41148" y="0"/>
                  </a:lnTo>
                  <a:lnTo>
                    <a:pt x="5582412" y="0"/>
                  </a:lnTo>
                  <a:lnTo>
                    <a:pt x="5598247" y="3190"/>
                  </a:lnTo>
                  <a:lnTo>
                    <a:pt x="5610796" y="11811"/>
                  </a:lnTo>
                  <a:lnTo>
                    <a:pt x="5619059" y="24431"/>
                  </a:lnTo>
                  <a:lnTo>
                    <a:pt x="5622035" y="39624"/>
                  </a:lnTo>
                  <a:lnTo>
                    <a:pt x="5622035" y="886967"/>
                  </a:lnTo>
                  <a:lnTo>
                    <a:pt x="5619059" y="902803"/>
                  </a:lnTo>
                  <a:lnTo>
                    <a:pt x="5610796" y="915352"/>
                  </a:lnTo>
                  <a:lnTo>
                    <a:pt x="5598247" y="923615"/>
                  </a:lnTo>
                  <a:lnTo>
                    <a:pt x="5582412" y="926592"/>
                  </a:lnTo>
                  <a:close/>
                </a:path>
              </a:pathLst>
            </a:custGeom>
            <a:solidFill>
              <a:srgbClr val="282D5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428243" y="5065775"/>
              <a:ext cx="285115" cy="283845"/>
            </a:xfrm>
            <a:custGeom>
              <a:avLst/>
              <a:gdLst/>
              <a:ahLst/>
              <a:cxnLst/>
              <a:rect l="l" t="t" r="r" b="b"/>
              <a:pathLst>
                <a:path w="285115" h="283845">
                  <a:moveTo>
                    <a:pt x="141732" y="283464"/>
                  </a:moveTo>
                  <a:lnTo>
                    <a:pt x="97145" y="276331"/>
                  </a:lnTo>
                  <a:lnTo>
                    <a:pt x="58265" y="256397"/>
                  </a:lnTo>
                  <a:lnTo>
                    <a:pt x="27505" y="225856"/>
                  </a:lnTo>
                  <a:lnTo>
                    <a:pt x="7278" y="186903"/>
                  </a:lnTo>
                  <a:lnTo>
                    <a:pt x="0" y="141732"/>
                  </a:lnTo>
                  <a:lnTo>
                    <a:pt x="7278" y="96560"/>
                  </a:lnTo>
                  <a:lnTo>
                    <a:pt x="27505" y="57607"/>
                  </a:lnTo>
                  <a:lnTo>
                    <a:pt x="58265" y="27066"/>
                  </a:lnTo>
                  <a:lnTo>
                    <a:pt x="97145" y="7132"/>
                  </a:lnTo>
                  <a:lnTo>
                    <a:pt x="141732" y="0"/>
                  </a:lnTo>
                  <a:lnTo>
                    <a:pt x="187061" y="7132"/>
                  </a:lnTo>
                  <a:lnTo>
                    <a:pt x="226393" y="27066"/>
                  </a:lnTo>
                  <a:lnTo>
                    <a:pt x="257385" y="57607"/>
                  </a:lnTo>
                  <a:lnTo>
                    <a:pt x="277697" y="96560"/>
                  </a:lnTo>
                  <a:lnTo>
                    <a:pt x="284988" y="141732"/>
                  </a:lnTo>
                  <a:lnTo>
                    <a:pt x="277697" y="186903"/>
                  </a:lnTo>
                  <a:lnTo>
                    <a:pt x="257385" y="225856"/>
                  </a:lnTo>
                  <a:lnTo>
                    <a:pt x="226393" y="256397"/>
                  </a:lnTo>
                  <a:lnTo>
                    <a:pt x="187061" y="276331"/>
                  </a:lnTo>
                  <a:lnTo>
                    <a:pt x="141732" y="283464"/>
                  </a:lnTo>
                  <a:close/>
                </a:path>
              </a:pathLst>
            </a:custGeom>
            <a:solidFill>
              <a:srgbClr val="EDAEF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99871" y="5140452"/>
              <a:ext cx="140207" cy="137160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321056" y="5426497"/>
            <a:ext cx="5431790" cy="8699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06680">
              <a:lnSpc>
                <a:spcPct val="100000"/>
              </a:lnSpc>
              <a:spcBef>
                <a:spcPts val="125"/>
              </a:spcBef>
            </a:pPr>
            <a:r>
              <a:rPr dirty="0" sz="900" spc="20" b="1">
                <a:solidFill>
                  <a:srgbClr val="E4DBE6"/>
                </a:solidFill>
                <a:latin typeface="Trebuchet MS"/>
                <a:cs typeface="Trebuchet MS"/>
              </a:rPr>
              <a:t>Emergency</a:t>
            </a:r>
            <a:r>
              <a:rPr dirty="0" sz="900" spc="65" b="1">
                <a:solidFill>
                  <a:srgbClr val="E4DBE6"/>
                </a:solidFill>
                <a:latin typeface="Trebuchet MS"/>
                <a:cs typeface="Trebuchet MS"/>
              </a:rPr>
              <a:t> </a:t>
            </a:r>
            <a:r>
              <a:rPr dirty="0" sz="900" spc="35" b="1">
                <a:solidFill>
                  <a:srgbClr val="E4DBE6"/>
                </a:solidFill>
                <a:latin typeface="Trebuchet MS"/>
                <a:cs typeface="Trebuchet MS"/>
              </a:rPr>
              <a:t>Response</a:t>
            </a:r>
            <a:endParaRPr sz="900">
              <a:latin typeface="Trebuchet MS"/>
              <a:cs typeface="Trebuchet MS"/>
            </a:endParaRPr>
          </a:p>
          <a:p>
            <a:pPr marL="106680">
              <a:lnSpc>
                <a:spcPct val="100000"/>
              </a:lnSpc>
              <a:spcBef>
                <a:spcPts val="735"/>
              </a:spcBef>
            </a:pPr>
            <a:r>
              <a:rPr dirty="0" sz="700" spc="75">
                <a:solidFill>
                  <a:srgbClr val="E4DBE6"/>
                </a:solidFill>
                <a:latin typeface="Calibri"/>
                <a:cs typeface="Calibri"/>
              </a:rPr>
              <a:t>Instant</a:t>
            </a:r>
            <a:r>
              <a:rPr dirty="0" sz="700" spc="85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700" spc="75">
                <a:solidFill>
                  <a:srgbClr val="E4DBE6"/>
                </a:solidFill>
                <a:latin typeface="Calibri"/>
                <a:cs typeface="Calibri"/>
              </a:rPr>
              <a:t>assistance</a:t>
            </a:r>
            <a:r>
              <a:rPr dirty="0" sz="700" spc="125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700" spc="75">
                <a:solidFill>
                  <a:srgbClr val="E4DBE6"/>
                </a:solidFill>
                <a:latin typeface="Calibri"/>
                <a:cs typeface="Calibri"/>
              </a:rPr>
              <a:t>simulation</a:t>
            </a:r>
            <a:r>
              <a:rPr dirty="0" sz="700" spc="130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E4DBE6"/>
                </a:solidFill>
                <a:latin typeface="Calibri"/>
                <a:cs typeface="Calibri"/>
              </a:rPr>
              <a:t>for</a:t>
            </a:r>
            <a:r>
              <a:rPr dirty="0" sz="700" spc="75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700" spc="55">
                <a:solidFill>
                  <a:srgbClr val="E4DBE6"/>
                </a:solidFill>
                <a:latin typeface="Calibri"/>
                <a:cs typeface="Calibri"/>
              </a:rPr>
              <a:t>critical</a:t>
            </a:r>
            <a:r>
              <a:rPr dirty="0" sz="700" spc="95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700" spc="55">
                <a:solidFill>
                  <a:srgbClr val="E4DBE6"/>
                </a:solidFill>
                <a:latin typeface="Calibri"/>
                <a:cs typeface="Calibri"/>
              </a:rPr>
              <a:t>situations</a:t>
            </a:r>
            <a:endParaRPr sz="7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55"/>
              </a:spcBef>
            </a:pPr>
            <a:endParaRPr sz="700">
              <a:latin typeface="Calibri"/>
              <a:cs typeface="Calibri"/>
            </a:endParaRPr>
          </a:p>
          <a:p>
            <a:pPr marL="12700" marR="5080">
              <a:lnSpc>
                <a:spcPct val="140000"/>
              </a:lnSpc>
            </a:pPr>
            <a:r>
              <a:rPr dirty="0" sz="700" spc="95" b="1">
                <a:solidFill>
                  <a:srgbClr val="E4DBE6"/>
                </a:solidFill>
                <a:latin typeface="Calibri"/>
                <a:cs typeface="Calibri"/>
              </a:rPr>
              <a:t>Target</a:t>
            </a:r>
            <a:r>
              <a:rPr dirty="0" sz="700" spc="65" b="1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700" spc="90" b="1">
                <a:solidFill>
                  <a:srgbClr val="E4DBE6"/>
                </a:solidFill>
                <a:latin typeface="Calibri"/>
                <a:cs typeface="Calibri"/>
              </a:rPr>
              <a:t>Audience:</a:t>
            </a:r>
            <a:r>
              <a:rPr dirty="0" sz="700" spc="60" b="1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700" spc="75">
                <a:solidFill>
                  <a:srgbClr val="E4DBE6"/>
                </a:solidFill>
                <a:latin typeface="Calibri"/>
                <a:cs typeface="Calibri"/>
              </a:rPr>
              <a:t>Patients</a:t>
            </a:r>
            <a:r>
              <a:rPr dirty="0" sz="700" spc="85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700" spc="90">
                <a:solidFill>
                  <a:srgbClr val="E4DBE6"/>
                </a:solidFill>
                <a:latin typeface="Calibri"/>
                <a:cs typeface="Calibri"/>
              </a:rPr>
              <a:t>seeking</a:t>
            </a:r>
            <a:r>
              <a:rPr dirty="0" sz="700" spc="75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700" spc="95">
                <a:solidFill>
                  <a:srgbClr val="E4DBE6"/>
                </a:solidFill>
                <a:latin typeface="Calibri"/>
                <a:cs typeface="Calibri"/>
              </a:rPr>
              <a:t>immediate</a:t>
            </a:r>
            <a:r>
              <a:rPr dirty="0" sz="700" spc="85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700" spc="90">
                <a:solidFill>
                  <a:srgbClr val="E4DBE6"/>
                </a:solidFill>
                <a:latin typeface="Calibri"/>
                <a:cs typeface="Calibri"/>
              </a:rPr>
              <a:t>medical</a:t>
            </a:r>
            <a:r>
              <a:rPr dirty="0" sz="700" spc="55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700" spc="100">
                <a:solidFill>
                  <a:srgbClr val="E4DBE6"/>
                </a:solidFill>
                <a:latin typeface="Calibri"/>
                <a:cs typeface="Calibri"/>
              </a:rPr>
              <a:t>guidance</a:t>
            </a:r>
            <a:r>
              <a:rPr dirty="0" sz="700" spc="80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700" spc="110">
                <a:solidFill>
                  <a:srgbClr val="E4DBE6"/>
                </a:solidFill>
                <a:latin typeface="Calibri"/>
                <a:cs typeface="Calibri"/>
              </a:rPr>
              <a:t>and</a:t>
            </a:r>
            <a:r>
              <a:rPr dirty="0" sz="700" spc="50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700" spc="70">
                <a:solidFill>
                  <a:srgbClr val="E4DBE6"/>
                </a:solidFill>
                <a:latin typeface="Calibri"/>
                <a:cs typeface="Calibri"/>
              </a:rPr>
              <a:t>hospitals</a:t>
            </a:r>
            <a:r>
              <a:rPr dirty="0" sz="700" spc="80">
                <a:solidFill>
                  <a:srgbClr val="E4DBE6"/>
                </a:solidFill>
                <a:latin typeface="Calibri"/>
                <a:cs typeface="Calibri"/>
              </a:rPr>
              <a:t> requiring</a:t>
            </a:r>
            <a:r>
              <a:rPr dirty="0" sz="700" spc="85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700" spc="60">
                <a:solidFill>
                  <a:srgbClr val="E4DBE6"/>
                </a:solidFill>
                <a:latin typeface="Calibri"/>
                <a:cs typeface="Calibri"/>
              </a:rPr>
              <a:t>efficient</a:t>
            </a:r>
            <a:r>
              <a:rPr dirty="0" sz="700" spc="65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700" spc="75">
                <a:solidFill>
                  <a:srgbClr val="E4DBE6"/>
                </a:solidFill>
                <a:latin typeface="Calibri"/>
                <a:cs typeface="Calibri"/>
              </a:rPr>
              <a:t>patient</a:t>
            </a:r>
            <a:r>
              <a:rPr dirty="0" sz="700" spc="70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700" spc="80">
                <a:solidFill>
                  <a:srgbClr val="E4DBE6"/>
                </a:solidFill>
                <a:latin typeface="Calibri"/>
                <a:cs typeface="Calibri"/>
              </a:rPr>
              <a:t>monitoring </a:t>
            </a:r>
            <a:r>
              <a:rPr dirty="0" sz="700" spc="60">
                <a:solidFill>
                  <a:srgbClr val="E4DBE6"/>
                </a:solidFill>
                <a:latin typeface="Calibri"/>
                <a:cs typeface="Calibri"/>
              </a:rPr>
              <a:t>solutions</a:t>
            </a:r>
            <a:endParaRPr sz="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04147" y="6324600"/>
            <a:ext cx="1254251" cy="32003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34476" y="1752023"/>
            <a:ext cx="5981065" cy="492125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050"/>
              <a:t>Comprehensive</a:t>
            </a:r>
            <a:r>
              <a:rPr dirty="0" sz="3050" spc="85"/>
              <a:t> </a:t>
            </a:r>
            <a:r>
              <a:rPr dirty="0" sz="3050" spc="75"/>
              <a:t>User</a:t>
            </a:r>
            <a:r>
              <a:rPr dirty="0" sz="3050" spc="65"/>
              <a:t> </a:t>
            </a:r>
            <a:r>
              <a:rPr dirty="0" sz="3050" spc="-10"/>
              <a:t>Experience</a:t>
            </a:r>
            <a:endParaRPr sz="3050"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1019" y="2580132"/>
            <a:ext cx="399287" cy="39776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34376" y="3148015"/>
            <a:ext cx="4099560" cy="110045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500" b="1">
                <a:solidFill>
                  <a:srgbClr val="E4DBE6"/>
                </a:solidFill>
                <a:latin typeface="Trebuchet MS"/>
                <a:cs typeface="Trebuchet MS"/>
              </a:rPr>
              <a:t>AI</a:t>
            </a:r>
            <a:r>
              <a:rPr dirty="0" sz="1500" spc="-45" b="1">
                <a:solidFill>
                  <a:srgbClr val="E4DBE6"/>
                </a:solidFill>
                <a:latin typeface="Trebuchet MS"/>
                <a:cs typeface="Trebuchet MS"/>
              </a:rPr>
              <a:t> </a:t>
            </a:r>
            <a:r>
              <a:rPr dirty="0" sz="1500" spc="-10" b="1">
                <a:solidFill>
                  <a:srgbClr val="E4DBE6"/>
                </a:solidFill>
                <a:latin typeface="Trebuchet MS"/>
                <a:cs typeface="Trebuchet MS"/>
              </a:rPr>
              <a:t>Health</a:t>
            </a:r>
            <a:r>
              <a:rPr dirty="0" sz="1500" spc="-60" b="1">
                <a:solidFill>
                  <a:srgbClr val="E4DBE6"/>
                </a:solidFill>
                <a:latin typeface="Trebuchet MS"/>
                <a:cs typeface="Trebuchet MS"/>
              </a:rPr>
              <a:t> </a:t>
            </a:r>
            <a:r>
              <a:rPr dirty="0" sz="1500" spc="-10" b="1">
                <a:solidFill>
                  <a:srgbClr val="E4DBE6"/>
                </a:solidFill>
                <a:latin typeface="Trebuchet MS"/>
                <a:cs typeface="Trebuchet MS"/>
              </a:rPr>
              <a:t>Consultation</a:t>
            </a:r>
            <a:endParaRPr sz="1500">
              <a:latin typeface="Trebuchet MS"/>
              <a:cs typeface="Trebuchet MS"/>
            </a:endParaRPr>
          </a:p>
          <a:p>
            <a:pPr marL="12700" marR="5080">
              <a:lnSpc>
                <a:spcPct val="138300"/>
              </a:lnSpc>
              <a:spcBef>
                <a:spcPts val="675"/>
              </a:spcBef>
            </a:pPr>
            <a:r>
              <a:rPr dirty="0" sz="1200" spc="110">
                <a:solidFill>
                  <a:srgbClr val="E4DBE6"/>
                </a:solidFill>
                <a:latin typeface="Calibri"/>
                <a:cs typeface="Calibri"/>
              </a:rPr>
              <a:t>Intelligent</a:t>
            </a:r>
            <a:r>
              <a:rPr dirty="0" sz="1200" spc="95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200" spc="170">
                <a:solidFill>
                  <a:srgbClr val="E4DBE6"/>
                </a:solidFill>
                <a:latin typeface="Calibri"/>
                <a:cs typeface="Calibri"/>
              </a:rPr>
              <a:t>symptom</a:t>
            </a:r>
            <a:r>
              <a:rPr dirty="0" sz="1200" spc="95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200" spc="155">
                <a:solidFill>
                  <a:srgbClr val="E4DBE6"/>
                </a:solidFill>
                <a:latin typeface="Calibri"/>
                <a:cs typeface="Calibri"/>
              </a:rPr>
              <a:t>checking</a:t>
            </a:r>
            <a:r>
              <a:rPr dirty="0" sz="1200" spc="95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200" spc="125">
                <a:solidFill>
                  <a:srgbClr val="E4DBE6"/>
                </a:solidFill>
                <a:latin typeface="Calibri"/>
                <a:cs typeface="Calibri"/>
              </a:rPr>
              <a:t>with</a:t>
            </a:r>
            <a:r>
              <a:rPr dirty="0" sz="1200" spc="70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200" spc="110">
                <a:solidFill>
                  <a:srgbClr val="E4DBE6"/>
                </a:solidFill>
                <a:latin typeface="Calibri"/>
                <a:cs typeface="Calibri"/>
              </a:rPr>
              <a:t>conversational</a:t>
            </a:r>
            <a:r>
              <a:rPr dirty="0" sz="1200" spc="105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200" spc="80">
                <a:solidFill>
                  <a:srgbClr val="E4DBE6"/>
                </a:solidFill>
                <a:latin typeface="Calibri"/>
                <a:cs typeface="Calibri"/>
              </a:rPr>
              <a:t>AI </a:t>
            </a:r>
            <a:r>
              <a:rPr dirty="0" sz="1200" spc="130">
                <a:solidFill>
                  <a:srgbClr val="E4DBE6"/>
                </a:solidFill>
                <a:latin typeface="Calibri"/>
                <a:cs typeface="Calibri"/>
              </a:rPr>
              <a:t>providing</a:t>
            </a:r>
            <a:r>
              <a:rPr dirty="0" sz="1200" spc="80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200" spc="114">
                <a:solidFill>
                  <a:srgbClr val="E4DBE6"/>
                </a:solidFill>
                <a:latin typeface="Calibri"/>
                <a:cs typeface="Calibri"/>
              </a:rPr>
              <a:t>preliminary </a:t>
            </a:r>
            <a:r>
              <a:rPr dirty="0" sz="1200" spc="130">
                <a:solidFill>
                  <a:srgbClr val="E4DBE6"/>
                </a:solidFill>
                <a:latin typeface="Calibri"/>
                <a:cs typeface="Calibri"/>
              </a:rPr>
              <a:t>diagnosis</a:t>
            </a:r>
            <a:r>
              <a:rPr dirty="0" sz="1200" spc="70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200" spc="165">
                <a:solidFill>
                  <a:srgbClr val="E4DBE6"/>
                </a:solidFill>
                <a:latin typeface="Calibri"/>
                <a:cs typeface="Calibri"/>
              </a:rPr>
              <a:t>and</a:t>
            </a:r>
            <a:r>
              <a:rPr dirty="0" sz="1200" spc="70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200" spc="110">
                <a:solidFill>
                  <a:srgbClr val="E4DBE6"/>
                </a:solidFill>
                <a:latin typeface="Calibri"/>
                <a:cs typeface="Calibri"/>
              </a:rPr>
              <a:t>healthcare </a:t>
            </a:r>
            <a:r>
              <a:rPr dirty="0" sz="1200" spc="135">
                <a:solidFill>
                  <a:srgbClr val="E4DBE6"/>
                </a:solidFill>
                <a:latin typeface="Calibri"/>
                <a:cs typeface="Calibri"/>
              </a:rPr>
              <a:t>recommendations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20639" y="2580132"/>
            <a:ext cx="399287" cy="397763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5115492" y="3148015"/>
            <a:ext cx="4124960" cy="84709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500" spc="55" b="1">
                <a:solidFill>
                  <a:srgbClr val="E4DBE6"/>
                </a:solidFill>
                <a:latin typeface="Trebuchet MS"/>
                <a:cs typeface="Trebuchet MS"/>
              </a:rPr>
              <a:t>Progress</a:t>
            </a:r>
            <a:r>
              <a:rPr dirty="0" sz="1500" spc="-80" b="1">
                <a:solidFill>
                  <a:srgbClr val="E4DBE6"/>
                </a:solidFill>
                <a:latin typeface="Trebuchet MS"/>
                <a:cs typeface="Trebuchet MS"/>
              </a:rPr>
              <a:t> </a:t>
            </a:r>
            <a:r>
              <a:rPr dirty="0" sz="1500" spc="-10" b="1">
                <a:solidFill>
                  <a:srgbClr val="E4DBE6"/>
                </a:solidFill>
                <a:latin typeface="Trebuchet MS"/>
                <a:cs typeface="Trebuchet MS"/>
              </a:rPr>
              <a:t>Monitoring</a:t>
            </a:r>
            <a:endParaRPr sz="1500">
              <a:latin typeface="Trebuchet MS"/>
              <a:cs typeface="Trebuchet MS"/>
            </a:endParaRPr>
          </a:p>
          <a:p>
            <a:pPr marL="12700" marR="5080">
              <a:lnSpc>
                <a:spcPct val="138300"/>
              </a:lnSpc>
              <a:spcBef>
                <a:spcPts val="675"/>
              </a:spcBef>
            </a:pPr>
            <a:r>
              <a:rPr dirty="0" sz="1200" spc="114">
                <a:solidFill>
                  <a:srgbClr val="E4DBE6"/>
                </a:solidFill>
                <a:latin typeface="Calibri"/>
                <a:cs typeface="Calibri"/>
              </a:rPr>
              <a:t>Daily</a:t>
            </a:r>
            <a:r>
              <a:rPr dirty="0" sz="1200" spc="75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200" spc="120">
                <a:solidFill>
                  <a:srgbClr val="E4DBE6"/>
                </a:solidFill>
                <a:latin typeface="Calibri"/>
                <a:cs typeface="Calibri"/>
              </a:rPr>
              <a:t>health</a:t>
            </a:r>
            <a:r>
              <a:rPr dirty="0" sz="1200" spc="95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200" spc="110">
                <a:solidFill>
                  <a:srgbClr val="E4DBE6"/>
                </a:solidFill>
                <a:latin typeface="Calibri"/>
                <a:cs typeface="Calibri"/>
              </a:rPr>
              <a:t>score</a:t>
            </a:r>
            <a:r>
              <a:rPr dirty="0" sz="1200" spc="70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200" spc="135">
                <a:solidFill>
                  <a:srgbClr val="E4DBE6"/>
                </a:solidFill>
                <a:latin typeface="Calibri"/>
                <a:cs typeface="Calibri"/>
              </a:rPr>
              <a:t>tracking</a:t>
            </a:r>
            <a:r>
              <a:rPr dirty="0" sz="1200" spc="80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200" spc="125">
                <a:solidFill>
                  <a:srgbClr val="E4DBE6"/>
                </a:solidFill>
                <a:latin typeface="Calibri"/>
                <a:cs typeface="Calibri"/>
              </a:rPr>
              <a:t>with</a:t>
            </a:r>
            <a:r>
              <a:rPr dirty="0" sz="1200" spc="70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200" spc="95">
                <a:solidFill>
                  <a:srgbClr val="E4DBE6"/>
                </a:solidFill>
                <a:latin typeface="Calibri"/>
                <a:cs typeface="Calibri"/>
              </a:rPr>
              <a:t>intuitive</a:t>
            </a:r>
            <a:r>
              <a:rPr dirty="0" sz="1200" spc="85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200" spc="100">
                <a:solidFill>
                  <a:srgbClr val="E4DBE6"/>
                </a:solidFill>
                <a:latin typeface="Calibri"/>
                <a:cs typeface="Calibri"/>
              </a:rPr>
              <a:t>visual</a:t>
            </a:r>
            <a:r>
              <a:rPr dirty="0" sz="1200" spc="80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200" spc="110">
                <a:solidFill>
                  <a:srgbClr val="E4DBE6"/>
                </a:solidFill>
                <a:latin typeface="Calibri"/>
                <a:cs typeface="Calibri"/>
              </a:rPr>
              <a:t>charts </a:t>
            </a:r>
            <a:r>
              <a:rPr dirty="0" sz="1200" spc="150">
                <a:solidFill>
                  <a:srgbClr val="E4DBE6"/>
                </a:solidFill>
                <a:latin typeface="Calibri"/>
                <a:cs typeface="Calibri"/>
              </a:rPr>
              <a:t>showing</a:t>
            </a:r>
            <a:r>
              <a:rPr dirty="0" sz="1200" spc="75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200" spc="110">
                <a:solidFill>
                  <a:srgbClr val="E4DBE6"/>
                </a:solidFill>
                <a:latin typeface="Calibri"/>
                <a:cs typeface="Calibri"/>
              </a:rPr>
              <a:t>wellness</a:t>
            </a:r>
            <a:r>
              <a:rPr dirty="0" sz="1200" spc="95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200" spc="120">
                <a:solidFill>
                  <a:srgbClr val="E4DBE6"/>
                </a:solidFill>
                <a:latin typeface="Calibri"/>
                <a:cs typeface="Calibri"/>
              </a:rPr>
              <a:t>trends</a:t>
            </a:r>
            <a:r>
              <a:rPr dirty="0" sz="1200" spc="70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200" spc="100">
                <a:solidFill>
                  <a:srgbClr val="E4DBE6"/>
                </a:solidFill>
                <a:latin typeface="Calibri"/>
                <a:cs typeface="Calibri"/>
              </a:rPr>
              <a:t>over</a:t>
            </a:r>
            <a:r>
              <a:rPr dirty="0" sz="1200" spc="85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200" spc="114">
                <a:solidFill>
                  <a:srgbClr val="E4DBE6"/>
                </a:solidFill>
                <a:latin typeface="Calibri"/>
                <a:cs typeface="Calibri"/>
              </a:rPr>
              <a:t>time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41019" y="4562855"/>
            <a:ext cx="399287" cy="397763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534376" y="5130854"/>
            <a:ext cx="3932554" cy="845819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500" b="1">
                <a:solidFill>
                  <a:srgbClr val="E4DBE6"/>
                </a:solidFill>
                <a:latin typeface="Trebuchet MS"/>
                <a:cs typeface="Trebuchet MS"/>
              </a:rPr>
              <a:t>Emergency</a:t>
            </a:r>
            <a:r>
              <a:rPr dirty="0" sz="1500" spc="245" b="1">
                <a:solidFill>
                  <a:srgbClr val="E4DBE6"/>
                </a:solidFill>
                <a:latin typeface="Trebuchet MS"/>
                <a:cs typeface="Trebuchet MS"/>
              </a:rPr>
              <a:t> </a:t>
            </a:r>
            <a:r>
              <a:rPr dirty="0" sz="1500" spc="-10" b="1">
                <a:solidFill>
                  <a:srgbClr val="E4DBE6"/>
                </a:solidFill>
                <a:latin typeface="Trebuchet MS"/>
                <a:cs typeface="Trebuchet MS"/>
              </a:rPr>
              <a:t>Support</a:t>
            </a:r>
            <a:endParaRPr sz="1500">
              <a:latin typeface="Trebuchet MS"/>
              <a:cs typeface="Trebuchet MS"/>
            </a:endParaRPr>
          </a:p>
          <a:p>
            <a:pPr marL="12700" marR="5080">
              <a:lnSpc>
                <a:spcPct val="138300"/>
              </a:lnSpc>
              <a:spcBef>
                <a:spcPts val="660"/>
              </a:spcBef>
            </a:pPr>
            <a:r>
              <a:rPr dirty="0" sz="1200" spc="145">
                <a:solidFill>
                  <a:srgbClr val="E4DBE6"/>
                </a:solidFill>
                <a:latin typeface="Calibri"/>
                <a:cs typeface="Calibri"/>
              </a:rPr>
              <a:t>Quick</a:t>
            </a:r>
            <a:r>
              <a:rPr dirty="0" sz="1200" spc="75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200" spc="125">
                <a:solidFill>
                  <a:srgbClr val="E4DBE6"/>
                </a:solidFill>
                <a:latin typeface="Calibri"/>
                <a:cs typeface="Calibri"/>
              </a:rPr>
              <a:t>access</a:t>
            </a:r>
            <a:r>
              <a:rPr dirty="0" sz="1200" spc="90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200" spc="95">
                <a:solidFill>
                  <a:srgbClr val="E4DBE6"/>
                </a:solidFill>
                <a:latin typeface="Calibri"/>
                <a:cs typeface="Calibri"/>
              </a:rPr>
              <a:t>to</a:t>
            </a:r>
            <a:r>
              <a:rPr dirty="0" sz="1200" spc="55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200" spc="155">
                <a:solidFill>
                  <a:srgbClr val="E4DBE6"/>
                </a:solidFill>
                <a:latin typeface="Calibri"/>
                <a:cs typeface="Calibri"/>
              </a:rPr>
              <a:t>emergency</a:t>
            </a:r>
            <a:r>
              <a:rPr dirty="0" sz="1200" spc="125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200" spc="114">
                <a:solidFill>
                  <a:srgbClr val="E4DBE6"/>
                </a:solidFill>
                <a:latin typeface="Calibri"/>
                <a:cs typeface="Calibri"/>
              </a:rPr>
              <a:t>assistance</a:t>
            </a:r>
            <a:r>
              <a:rPr dirty="0" sz="1200" spc="70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200" spc="125">
                <a:solidFill>
                  <a:srgbClr val="E4DBE6"/>
                </a:solidFill>
                <a:latin typeface="Calibri"/>
                <a:cs typeface="Calibri"/>
              </a:rPr>
              <a:t>with</a:t>
            </a:r>
            <a:r>
              <a:rPr dirty="0" sz="1200" spc="70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200" spc="105">
                <a:solidFill>
                  <a:srgbClr val="E4DBE6"/>
                </a:solidFill>
                <a:latin typeface="Calibri"/>
                <a:cs typeface="Calibri"/>
              </a:rPr>
              <a:t>instant </a:t>
            </a:r>
            <a:r>
              <a:rPr dirty="0" sz="1200" spc="125">
                <a:solidFill>
                  <a:srgbClr val="E4DBE6"/>
                </a:solidFill>
                <a:latin typeface="Calibri"/>
                <a:cs typeface="Calibri"/>
              </a:rPr>
              <a:t>contact</a:t>
            </a:r>
            <a:r>
              <a:rPr dirty="0" sz="1200" spc="80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200" spc="120">
                <a:solidFill>
                  <a:srgbClr val="E4DBE6"/>
                </a:solidFill>
                <a:latin typeface="Calibri"/>
                <a:cs typeface="Calibri"/>
              </a:rPr>
              <a:t>simulation</a:t>
            </a:r>
            <a:r>
              <a:rPr dirty="0" sz="1200" spc="100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200" spc="165">
                <a:solidFill>
                  <a:srgbClr val="E4DBE6"/>
                </a:solidFill>
                <a:latin typeface="Calibri"/>
                <a:cs typeface="Calibri"/>
              </a:rPr>
              <a:t>and</a:t>
            </a:r>
            <a:r>
              <a:rPr dirty="0" sz="1200" spc="70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200" spc="90">
                <a:solidFill>
                  <a:srgbClr val="E4DBE6"/>
                </a:solidFill>
                <a:latin typeface="Calibri"/>
                <a:cs typeface="Calibri"/>
              </a:rPr>
              <a:t>critical</a:t>
            </a:r>
            <a:r>
              <a:rPr dirty="0" sz="1200" spc="105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200" spc="114">
                <a:solidFill>
                  <a:srgbClr val="E4DBE6"/>
                </a:solidFill>
                <a:latin typeface="Calibri"/>
                <a:cs typeface="Calibri"/>
              </a:rPr>
              <a:t>care</a:t>
            </a:r>
            <a:r>
              <a:rPr dirty="0" sz="1200" spc="70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200" spc="145">
                <a:solidFill>
                  <a:srgbClr val="E4DBE6"/>
                </a:solidFill>
                <a:latin typeface="Calibri"/>
                <a:cs typeface="Calibri"/>
              </a:rPr>
              <a:t>guidance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120639" y="4562855"/>
            <a:ext cx="399287" cy="397763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5115492" y="5130854"/>
            <a:ext cx="3909695" cy="845819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500" b="1">
                <a:solidFill>
                  <a:srgbClr val="E4DBE6"/>
                </a:solidFill>
                <a:latin typeface="Trebuchet MS"/>
                <a:cs typeface="Trebuchet MS"/>
              </a:rPr>
              <a:t>Personalised</a:t>
            </a:r>
            <a:r>
              <a:rPr dirty="0" sz="1500" spc="195" b="1">
                <a:solidFill>
                  <a:srgbClr val="E4DBE6"/>
                </a:solidFill>
                <a:latin typeface="Trebuchet MS"/>
                <a:cs typeface="Trebuchet MS"/>
              </a:rPr>
              <a:t> </a:t>
            </a:r>
            <a:r>
              <a:rPr dirty="0" sz="1500" spc="35" b="1">
                <a:solidFill>
                  <a:srgbClr val="E4DBE6"/>
                </a:solidFill>
                <a:latin typeface="Trebuchet MS"/>
                <a:cs typeface="Trebuchet MS"/>
              </a:rPr>
              <a:t>Management</a:t>
            </a:r>
            <a:endParaRPr sz="1500">
              <a:latin typeface="Trebuchet MS"/>
              <a:cs typeface="Trebuchet MS"/>
            </a:endParaRPr>
          </a:p>
          <a:p>
            <a:pPr marL="12700" marR="5080">
              <a:lnSpc>
                <a:spcPct val="138300"/>
              </a:lnSpc>
              <a:spcBef>
                <a:spcPts val="660"/>
              </a:spcBef>
            </a:pPr>
            <a:r>
              <a:rPr dirty="0" sz="1200" spc="145">
                <a:solidFill>
                  <a:srgbClr val="E4DBE6"/>
                </a:solidFill>
                <a:latin typeface="Calibri"/>
                <a:cs typeface="Calibri"/>
              </a:rPr>
              <a:t>Complete</a:t>
            </a:r>
            <a:r>
              <a:rPr dirty="0" sz="1200" spc="100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200" spc="85">
                <a:solidFill>
                  <a:srgbClr val="E4DBE6"/>
                </a:solidFill>
                <a:latin typeface="Calibri"/>
                <a:cs typeface="Calibri"/>
              </a:rPr>
              <a:t>profile</a:t>
            </a:r>
            <a:r>
              <a:rPr dirty="0" sz="1200" spc="80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200" spc="85">
                <a:solidFill>
                  <a:srgbClr val="E4DBE6"/>
                </a:solidFill>
                <a:latin typeface="Calibri"/>
                <a:cs typeface="Calibri"/>
              </a:rPr>
              <a:t>control,</a:t>
            </a:r>
            <a:r>
              <a:rPr dirty="0" sz="1200" spc="80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200" spc="135">
                <a:solidFill>
                  <a:srgbClr val="E4DBE6"/>
                </a:solidFill>
                <a:latin typeface="Calibri"/>
                <a:cs typeface="Calibri"/>
              </a:rPr>
              <a:t>chat</a:t>
            </a:r>
            <a:r>
              <a:rPr dirty="0" sz="1200" spc="85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200" spc="100">
                <a:solidFill>
                  <a:srgbClr val="E4DBE6"/>
                </a:solidFill>
                <a:latin typeface="Calibri"/>
                <a:cs typeface="Calibri"/>
              </a:rPr>
              <a:t>history</a:t>
            </a:r>
            <a:r>
              <a:rPr dirty="0" sz="1200" spc="75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200" spc="100">
                <a:solidFill>
                  <a:srgbClr val="E4DBE6"/>
                </a:solidFill>
                <a:latin typeface="Calibri"/>
                <a:cs typeface="Calibri"/>
              </a:rPr>
              <a:t>access,</a:t>
            </a:r>
            <a:r>
              <a:rPr dirty="0" sz="1200" spc="105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200" spc="140">
                <a:solidFill>
                  <a:srgbClr val="E4DBE6"/>
                </a:solidFill>
                <a:latin typeface="Calibri"/>
                <a:cs typeface="Calibri"/>
              </a:rPr>
              <a:t>and </a:t>
            </a:r>
            <a:r>
              <a:rPr dirty="0" sz="1200" spc="135">
                <a:solidFill>
                  <a:srgbClr val="E4DBE6"/>
                </a:solidFill>
                <a:latin typeface="Calibri"/>
                <a:cs typeface="Calibri"/>
              </a:rPr>
              <a:t>feedback</a:t>
            </a:r>
            <a:r>
              <a:rPr dirty="0" sz="1200" spc="110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200" spc="135">
                <a:solidFill>
                  <a:srgbClr val="E4DBE6"/>
                </a:solidFill>
                <a:latin typeface="Calibri"/>
                <a:cs typeface="Calibri"/>
              </a:rPr>
              <a:t>submission</a:t>
            </a:r>
            <a:r>
              <a:rPr dirty="0" sz="1200" spc="95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200" spc="70">
                <a:solidFill>
                  <a:srgbClr val="E4DBE6"/>
                </a:solidFill>
                <a:latin typeface="Calibri"/>
                <a:cs typeface="Calibri"/>
              </a:rPr>
              <a:t>for</a:t>
            </a:r>
            <a:r>
              <a:rPr dirty="0" sz="1200" spc="60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200" spc="130">
                <a:solidFill>
                  <a:srgbClr val="E4DBE6"/>
                </a:solidFill>
                <a:latin typeface="Calibri"/>
                <a:cs typeface="Calibri"/>
              </a:rPr>
              <a:t>continuous</a:t>
            </a:r>
            <a:r>
              <a:rPr dirty="0" sz="1200" spc="95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200" spc="135">
                <a:solidFill>
                  <a:srgbClr val="E4DBE6"/>
                </a:solidFill>
                <a:latin typeface="Calibri"/>
                <a:cs typeface="Calibri"/>
              </a:rPr>
              <a:t>improvement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4476" y="1057656"/>
            <a:ext cx="3963923" cy="5658611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68018" rIns="0" bIns="0" rtlCol="0" vert="horz">
            <a:spAutoFit/>
          </a:bodyPr>
          <a:lstStyle/>
          <a:p>
            <a:pPr marL="125095">
              <a:lnSpc>
                <a:spcPct val="100000"/>
              </a:lnSpc>
              <a:spcBef>
                <a:spcPts val="120"/>
              </a:spcBef>
            </a:pPr>
            <a:r>
              <a:rPr dirty="0" sz="2450"/>
              <a:t>Powerful</a:t>
            </a:r>
            <a:r>
              <a:rPr dirty="0" sz="2450" spc="-20"/>
              <a:t> </a:t>
            </a:r>
            <a:r>
              <a:rPr dirty="0" sz="2450"/>
              <a:t>Admin</a:t>
            </a:r>
            <a:r>
              <a:rPr dirty="0" sz="2450" spc="15"/>
              <a:t> </a:t>
            </a:r>
            <a:r>
              <a:rPr dirty="0" sz="2450" spc="-10"/>
              <a:t>Capabilities</a:t>
            </a:r>
            <a:endParaRPr sz="2450"/>
          </a:p>
        </p:txBody>
      </p:sp>
      <p:sp>
        <p:nvSpPr>
          <p:cNvPr id="4" name="object 4"/>
          <p:cNvSpPr/>
          <p:nvPr/>
        </p:nvSpPr>
        <p:spPr>
          <a:xfrm>
            <a:off x="446531" y="2450592"/>
            <a:ext cx="5394960" cy="15240"/>
          </a:xfrm>
          <a:custGeom>
            <a:avLst/>
            <a:gdLst/>
            <a:ahLst/>
            <a:cxnLst/>
            <a:rect l="l" t="t" r="r" b="b"/>
            <a:pathLst>
              <a:path w="5394960" h="15239">
                <a:moveTo>
                  <a:pt x="5394960" y="15240"/>
                </a:moveTo>
                <a:lnTo>
                  <a:pt x="0" y="15240"/>
                </a:lnTo>
                <a:lnTo>
                  <a:pt x="0" y="0"/>
                </a:lnTo>
                <a:lnTo>
                  <a:pt x="5394960" y="0"/>
                </a:lnTo>
                <a:lnTo>
                  <a:pt x="5394960" y="15240"/>
                </a:lnTo>
                <a:close/>
              </a:path>
            </a:pathLst>
          </a:custGeom>
          <a:solidFill>
            <a:srgbClr val="EDAE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46531" y="3448811"/>
            <a:ext cx="5394960" cy="15240"/>
          </a:xfrm>
          <a:custGeom>
            <a:avLst/>
            <a:gdLst/>
            <a:ahLst/>
            <a:cxnLst/>
            <a:rect l="l" t="t" r="r" b="b"/>
            <a:pathLst>
              <a:path w="5394960" h="15239">
                <a:moveTo>
                  <a:pt x="5394960" y="15240"/>
                </a:moveTo>
                <a:lnTo>
                  <a:pt x="0" y="15240"/>
                </a:lnTo>
                <a:lnTo>
                  <a:pt x="0" y="0"/>
                </a:lnTo>
                <a:lnTo>
                  <a:pt x="5394960" y="0"/>
                </a:lnTo>
                <a:lnTo>
                  <a:pt x="5394960" y="15240"/>
                </a:lnTo>
                <a:close/>
              </a:path>
            </a:pathLst>
          </a:custGeom>
          <a:solidFill>
            <a:srgbClr val="EDAE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46531" y="4447032"/>
            <a:ext cx="5394960" cy="15240"/>
          </a:xfrm>
          <a:custGeom>
            <a:avLst/>
            <a:gdLst/>
            <a:ahLst/>
            <a:cxnLst/>
            <a:rect l="l" t="t" r="r" b="b"/>
            <a:pathLst>
              <a:path w="5394960" h="15239">
                <a:moveTo>
                  <a:pt x="5394960" y="15240"/>
                </a:moveTo>
                <a:lnTo>
                  <a:pt x="0" y="15240"/>
                </a:lnTo>
                <a:lnTo>
                  <a:pt x="0" y="0"/>
                </a:lnTo>
                <a:lnTo>
                  <a:pt x="5394960" y="0"/>
                </a:lnTo>
                <a:lnTo>
                  <a:pt x="5394960" y="15240"/>
                </a:lnTo>
                <a:close/>
              </a:path>
            </a:pathLst>
          </a:custGeom>
          <a:solidFill>
            <a:srgbClr val="EDAE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46531" y="5443728"/>
            <a:ext cx="5394960" cy="17145"/>
          </a:xfrm>
          <a:custGeom>
            <a:avLst/>
            <a:gdLst/>
            <a:ahLst/>
            <a:cxnLst/>
            <a:rect l="l" t="t" r="r" b="b"/>
            <a:pathLst>
              <a:path w="5394960" h="17145">
                <a:moveTo>
                  <a:pt x="5394960" y="16764"/>
                </a:moveTo>
                <a:lnTo>
                  <a:pt x="0" y="16764"/>
                </a:lnTo>
                <a:lnTo>
                  <a:pt x="0" y="0"/>
                </a:lnTo>
                <a:lnTo>
                  <a:pt x="5394960" y="0"/>
                </a:lnTo>
                <a:lnTo>
                  <a:pt x="5394960" y="16764"/>
                </a:lnTo>
                <a:close/>
              </a:path>
            </a:pathLst>
          </a:custGeom>
          <a:solidFill>
            <a:srgbClr val="EDAE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25"/>
              <a:t>01</a:t>
            </a:r>
          </a:p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dirty="0" sz="1200" spc="50" b="1">
                <a:latin typeface="Trebuchet MS"/>
                <a:cs typeface="Trebuchet MS"/>
              </a:rPr>
              <a:t>User</a:t>
            </a:r>
            <a:r>
              <a:rPr dirty="0" sz="1200" spc="-50" b="1">
                <a:latin typeface="Trebuchet MS"/>
                <a:cs typeface="Trebuchet MS"/>
              </a:rPr>
              <a:t> </a:t>
            </a:r>
            <a:r>
              <a:rPr dirty="0" sz="1200" spc="40" b="1">
                <a:latin typeface="Trebuchet MS"/>
                <a:cs typeface="Trebuchet MS"/>
              </a:rPr>
              <a:t>Management</a:t>
            </a:r>
            <a:endParaRPr sz="12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dirty="0" spc="120"/>
              <a:t>Complete</a:t>
            </a:r>
            <a:r>
              <a:rPr dirty="0" spc="55"/>
              <a:t> </a:t>
            </a:r>
            <a:r>
              <a:rPr dirty="0" spc="95"/>
              <a:t>oversight</a:t>
            </a:r>
            <a:r>
              <a:rPr dirty="0" spc="65"/>
              <a:t> </a:t>
            </a:r>
            <a:r>
              <a:rPr dirty="0" spc="60"/>
              <a:t>of</a:t>
            </a:r>
            <a:r>
              <a:rPr dirty="0" spc="55"/>
              <a:t> </a:t>
            </a:r>
            <a:r>
              <a:rPr dirty="0" spc="95"/>
              <a:t>user</a:t>
            </a:r>
            <a:r>
              <a:rPr dirty="0" spc="40"/>
              <a:t> </a:t>
            </a:r>
            <a:r>
              <a:rPr dirty="0" spc="95"/>
              <a:t>accounts,</a:t>
            </a:r>
            <a:r>
              <a:rPr dirty="0" spc="40"/>
              <a:t> </a:t>
            </a:r>
            <a:r>
              <a:rPr dirty="0" spc="75"/>
              <a:t>registrations, </a:t>
            </a:r>
            <a:r>
              <a:rPr dirty="0" spc="130"/>
              <a:t>and</a:t>
            </a:r>
            <a:r>
              <a:rPr dirty="0" spc="40"/>
              <a:t> </a:t>
            </a:r>
            <a:r>
              <a:rPr dirty="0" spc="75"/>
              <a:t>activity</a:t>
            </a:r>
            <a:r>
              <a:rPr dirty="0" spc="45"/>
              <a:t> </a:t>
            </a:r>
            <a:r>
              <a:rPr dirty="0" spc="100"/>
              <a:t>monitoring</a:t>
            </a:r>
          </a:p>
          <a:p>
            <a:pPr>
              <a:lnSpc>
                <a:spcPct val="100000"/>
              </a:lnSpc>
              <a:spcBef>
                <a:spcPts val="935"/>
              </a:spcBef>
            </a:pPr>
          </a:p>
          <a:p>
            <a:pPr marL="12700">
              <a:lnSpc>
                <a:spcPct val="100000"/>
              </a:lnSpc>
            </a:pPr>
            <a:r>
              <a:rPr dirty="0" spc="-25"/>
              <a:t>02</a:t>
            </a:r>
          </a:p>
          <a:p>
            <a:pPr marL="12700">
              <a:lnSpc>
                <a:spcPct val="100000"/>
              </a:lnSpc>
              <a:spcBef>
                <a:spcPts val="930"/>
              </a:spcBef>
            </a:pPr>
            <a:r>
              <a:rPr dirty="0" sz="1200" b="1">
                <a:latin typeface="Trebuchet MS"/>
                <a:cs typeface="Trebuchet MS"/>
              </a:rPr>
              <a:t>Content</a:t>
            </a:r>
            <a:r>
              <a:rPr dirty="0" sz="1200" spc="130" b="1">
                <a:latin typeface="Trebuchet MS"/>
                <a:cs typeface="Trebuchet MS"/>
              </a:rPr>
              <a:t> </a:t>
            </a:r>
            <a:r>
              <a:rPr dirty="0" sz="1200" spc="-10" b="1">
                <a:latin typeface="Trebuchet MS"/>
                <a:cs typeface="Trebuchet MS"/>
              </a:rPr>
              <a:t>Administration</a:t>
            </a:r>
            <a:endParaRPr sz="12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35"/>
              </a:spcBef>
            </a:pPr>
            <a:r>
              <a:rPr dirty="0" spc="135"/>
              <a:t>Dynamic</a:t>
            </a:r>
            <a:r>
              <a:rPr dirty="0" spc="55"/>
              <a:t> </a:t>
            </a:r>
            <a:r>
              <a:rPr dirty="0" spc="95"/>
              <a:t>health</a:t>
            </a:r>
            <a:r>
              <a:rPr dirty="0" spc="60"/>
              <a:t> </a:t>
            </a:r>
            <a:r>
              <a:rPr dirty="0" spc="80"/>
              <a:t>tip</a:t>
            </a:r>
            <a:r>
              <a:rPr dirty="0" spc="40"/>
              <a:t> </a:t>
            </a:r>
            <a:r>
              <a:rPr dirty="0" spc="145"/>
              <a:t>management</a:t>
            </a:r>
            <a:r>
              <a:rPr dirty="0" spc="60"/>
              <a:t> </a:t>
            </a:r>
            <a:r>
              <a:rPr dirty="0" spc="130"/>
              <a:t>and</a:t>
            </a:r>
            <a:r>
              <a:rPr dirty="0" spc="40"/>
              <a:t> </a:t>
            </a:r>
            <a:r>
              <a:rPr dirty="0" spc="100"/>
              <a:t>educational</a:t>
            </a:r>
            <a:r>
              <a:rPr dirty="0" spc="55"/>
              <a:t> </a:t>
            </a:r>
            <a:r>
              <a:rPr dirty="0" spc="105"/>
              <a:t>content</a:t>
            </a:r>
            <a:r>
              <a:rPr dirty="0" spc="45"/>
              <a:t> </a:t>
            </a:r>
            <a:r>
              <a:rPr dirty="0" spc="85"/>
              <a:t>curation</a:t>
            </a:r>
          </a:p>
          <a:p>
            <a:pPr>
              <a:lnSpc>
                <a:spcPct val="100000"/>
              </a:lnSpc>
              <a:spcBef>
                <a:spcPts val="935"/>
              </a:spcBef>
            </a:pPr>
          </a:p>
          <a:p>
            <a:pPr marL="12700">
              <a:lnSpc>
                <a:spcPct val="100000"/>
              </a:lnSpc>
            </a:pPr>
            <a:r>
              <a:rPr dirty="0" spc="-25"/>
              <a:t>03</a:t>
            </a:r>
          </a:p>
          <a:p>
            <a:pPr marL="12700">
              <a:lnSpc>
                <a:spcPct val="100000"/>
              </a:lnSpc>
              <a:spcBef>
                <a:spcPts val="930"/>
              </a:spcBef>
            </a:pPr>
            <a:r>
              <a:rPr dirty="0" sz="1200" spc="10" b="1">
                <a:latin typeface="Trebuchet MS"/>
                <a:cs typeface="Trebuchet MS"/>
              </a:rPr>
              <a:t>Analytics</a:t>
            </a:r>
            <a:r>
              <a:rPr dirty="0" sz="1200" spc="130" b="1">
                <a:latin typeface="Trebuchet MS"/>
                <a:cs typeface="Trebuchet MS"/>
              </a:rPr>
              <a:t> </a:t>
            </a:r>
            <a:r>
              <a:rPr dirty="0" sz="1200" spc="40" b="1">
                <a:latin typeface="Trebuchet MS"/>
                <a:cs typeface="Trebuchet MS"/>
              </a:rPr>
              <a:t>Dashboard</a:t>
            </a:r>
            <a:endParaRPr sz="12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30"/>
              </a:spcBef>
            </a:pPr>
            <a:r>
              <a:rPr dirty="0" spc="100"/>
              <a:t>Real-</a:t>
            </a:r>
            <a:r>
              <a:rPr dirty="0" spc="110"/>
              <a:t>time</a:t>
            </a:r>
            <a:r>
              <a:rPr dirty="0" spc="45"/>
              <a:t> </a:t>
            </a:r>
            <a:r>
              <a:rPr dirty="0" spc="100"/>
              <a:t>insights</a:t>
            </a:r>
            <a:r>
              <a:rPr dirty="0" spc="60"/>
              <a:t> </a:t>
            </a:r>
            <a:r>
              <a:rPr dirty="0" spc="100"/>
              <a:t>with</a:t>
            </a:r>
            <a:r>
              <a:rPr dirty="0" spc="45"/>
              <a:t> </a:t>
            </a:r>
            <a:r>
              <a:rPr dirty="0" spc="110"/>
              <a:t>comprehensive</a:t>
            </a:r>
            <a:r>
              <a:rPr dirty="0" spc="90"/>
              <a:t> </a:t>
            </a:r>
            <a:r>
              <a:rPr dirty="0" spc="95"/>
              <a:t>reporting</a:t>
            </a:r>
            <a:r>
              <a:rPr dirty="0" spc="80"/>
              <a:t> </a:t>
            </a:r>
            <a:r>
              <a:rPr dirty="0" spc="90"/>
              <a:t>in</a:t>
            </a:r>
            <a:r>
              <a:rPr dirty="0" spc="55"/>
              <a:t> </a:t>
            </a:r>
            <a:r>
              <a:rPr dirty="0" spc="190"/>
              <a:t>PDF</a:t>
            </a:r>
            <a:r>
              <a:rPr dirty="0" spc="25"/>
              <a:t> </a:t>
            </a:r>
            <a:r>
              <a:rPr dirty="0" spc="130"/>
              <a:t>and</a:t>
            </a:r>
            <a:r>
              <a:rPr dirty="0" spc="40"/>
              <a:t> </a:t>
            </a:r>
            <a:r>
              <a:rPr dirty="0" spc="150"/>
              <a:t>CSV</a:t>
            </a:r>
            <a:r>
              <a:rPr dirty="0" spc="30"/>
              <a:t> </a:t>
            </a:r>
            <a:r>
              <a:rPr dirty="0" spc="85"/>
              <a:t>formats</a:t>
            </a:r>
          </a:p>
          <a:p>
            <a:pPr>
              <a:lnSpc>
                <a:spcPct val="100000"/>
              </a:lnSpc>
              <a:spcBef>
                <a:spcPts val="940"/>
              </a:spcBef>
            </a:pPr>
          </a:p>
          <a:p>
            <a:pPr marL="12700">
              <a:lnSpc>
                <a:spcPct val="100000"/>
              </a:lnSpc>
            </a:pPr>
            <a:r>
              <a:rPr dirty="0" spc="-25"/>
              <a:t>04</a:t>
            </a:r>
          </a:p>
          <a:p>
            <a:pPr marL="12700">
              <a:lnSpc>
                <a:spcPct val="100000"/>
              </a:lnSpc>
              <a:spcBef>
                <a:spcPts val="930"/>
              </a:spcBef>
            </a:pPr>
            <a:r>
              <a:rPr dirty="0" sz="1200" b="1">
                <a:latin typeface="Trebuchet MS"/>
                <a:cs typeface="Trebuchet MS"/>
              </a:rPr>
              <a:t>Incident</a:t>
            </a:r>
            <a:r>
              <a:rPr dirty="0" sz="1200" spc="30" b="1">
                <a:latin typeface="Trebuchet MS"/>
                <a:cs typeface="Trebuchet MS"/>
              </a:rPr>
              <a:t> </a:t>
            </a:r>
            <a:r>
              <a:rPr dirty="0" sz="1200" spc="-10" b="1">
                <a:latin typeface="Trebuchet MS"/>
                <a:cs typeface="Trebuchet MS"/>
              </a:rPr>
              <a:t>Monitoring</a:t>
            </a:r>
            <a:endParaRPr sz="12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30"/>
              </a:spcBef>
            </a:pPr>
            <a:r>
              <a:rPr dirty="0" spc="135"/>
              <a:t>Emergency</a:t>
            </a:r>
            <a:r>
              <a:rPr dirty="0" spc="55"/>
              <a:t> </a:t>
            </a:r>
            <a:r>
              <a:rPr dirty="0" spc="90"/>
              <a:t>tracking,</a:t>
            </a:r>
            <a:r>
              <a:rPr dirty="0" spc="70"/>
              <a:t> </a:t>
            </a:r>
            <a:r>
              <a:rPr dirty="0" spc="110"/>
              <a:t>feedback</a:t>
            </a:r>
            <a:r>
              <a:rPr dirty="0" spc="70"/>
              <a:t> </a:t>
            </a:r>
            <a:r>
              <a:rPr dirty="0" spc="75"/>
              <a:t>analysis,</a:t>
            </a:r>
            <a:r>
              <a:rPr dirty="0" spc="55"/>
              <a:t> </a:t>
            </a:r>
            <a:r>
              <a:rPr dirty="0" spc="130"/>
              <a:t>and</a:t>
            </a:r>
            <a:r>
              <a:rPr dirty="0" spc="50"/>
              <a:t> </a:t>
            </a:r>
            <a:r>
              <a:rPr dirty="0" spc="114"/>
              <a:t>system</a:t>
            </a:r>
            <a:r>
              <a:rPr dirty="0" spc="55"/>
              <a:t> </a:t>
            </a:r>
            <a:r>
              <a:rPr dirty="0" spc="105"/>
              <a:t>performance</a:t>
            </a:r>
            <a:r>
              <a:rPr dirty="0" spc="75"/>
              <a:t> </a:t>
            </a:r>
            <a:r>
              <a:rPr dirty="0" spc="80"/>
              <a:t>evaluation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20911" y="6377939"/>
            <a:ext cx="1196339" cy="29565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1057656"/>
            <a:ext cx="3965448" cy="5658611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9919" rIns="0" bIns="0" rtlCol="0" vert="horz">
            <a:spAutoFit/>
          </a:bodyPr>
          <a:lstStyle/>
          <a:p>
            <a:pPr marL="3898900">
              <a:lnSpc>
                <a:spcPct val="100000"/>
              </a:lnSpc>
              <a:spcBef>
                <a:spcPts val="120"/>
              </a:spcBef>
            </a:pPr>
            <a:r>
              <a:rPr dirty="0" sz="2450" spc="85"/>
              <a:t>Robust</a:t>
            </a:r>
            <a:r>
              <a:rPr dirty="0" sz="2450" spc="45"/>
              <a:t> </a:t>
            </a:r>
            <a:r>
              <a:rPr dirty="0" sz="2450"/>
              <a:t>Technology</a:t>
            </a:r>
            <a:r>
              <a:rPr dirty="0" sz="2450" spc="65"/>
              <a:t> </a:t>
            </a:r>
            <a:r>
              <a:rPr dirty="0" sz="2450" spc="-10"/>
              <a:t>Architecture</a:t>
            </a:r>
            <a:endParaRPr sz="2450"/>
          </a:p>
        </p:txBody>
      </p:sp>
      <p:grpSp>
        <p:nvGrpSpPr>
          <p:cNvPr id="5" name="object 5"/>
          <p:cNvGrpSpPr/>
          <p:nvPr/>
        </p:nvGrpSpPr>
        <p:grpSpPr>
          <a:xfrm>
            <a:off x="4210811" y="2043683"/>
            <a:ext cx="5410200" cy="986155"/>
            <a:chOff x="4210811" y="2043683"/>
            <a:chExt cx="5410200" cy="986155"/>
          </a:xfrm>
        </p:grpSpPr>
        <p:sp>
          <p:nvSpPr>
            <p:cNvPr id="6" name="object 6"/>
            <p:cNvSpPr/>
            <p:nvPr/>
          </p:nvSpPr>
          <p:spPr>
            <a:xfrm>
              <a:off x="4218431" y="2051303"/>
              <a:ext cx="5394960" cy="970915"/>
            </a:xfrm>
            <a:custGeom>
              <a:avLst/>
              <a:gdLst/>
              <a:ahLst/>
              <a:cxnLst/>
              <a:rect l="l" t="t" r="r" b="b"/>
              <a:pathLst>
                <a:path w="5394959" h="970914">
                  <a:moveTo>
                    <a:pt x="5341619" y="970788"/>
                  </a:moveTo>
                  <a:lnTo>
                    <a:pt x="53339" y="970788"/>
                  </a:lnTo>
                  <a:lnTo>
                    <a:pt x="32789" y="966501"/>
                  </a:lnTo>
                  <a:lnTo>
                    <a:pt x="15811" y="954786"/>
                  </a:lnTo>
                  <a:lnTo>
                    <a:pt x="4262" y="937355"/>
                  </a:lnTo>
                  <a:lnTo>
                    <a:pt x="0" y="915924"/>
                  </a:lnTo>
                  <a:lnTo>
                    <a:pt x="0" y="54863"/>
                  </a:lnTo>
                  <a:lnTo>
                    <a:pt x="4262" y="33432"/>
                  </a:lnTo>
                  <a:lnTo>
                    <a:pt x="15811" y="16001"/>
                  </a:lnTo>
                  <a:lnTo>
                    <a:pt x="32789" y="4286"/>
                  </a:lnTo>
                  <a:lnTo>
                    <a:pt x="53339" y="0"/>
                  </a:lnTo>
                  <a:lnTo>
                    <a:pt x="5341619" y="0"/>
                  </a:lnTo>
                  <a:lnTo>
                    <a:pt x="5362170" y="4286"/>
                  </a:lnTo>
                  <a:lnTo>
                    <a:pt x="5379148" y="16001"/>
                  </a:lnTo>
                  <a:lnTo>
                    <a:pt x="5390697" y="33432"/>
                  </a:lnTo>
                  <a:lnTo>
                    <a:pt x="5394960" y="54863"/>
                  </a:lnTo>
                  <a:lnTo>
                    <a:pt x="5394960" y="915924"/>
                  </a:lnTo>
                  <a:lnTo>
                    <a:pt x="5390697" y="937355"/>
                  </a:lnTo>
                  <a:lnTo>
                    <a:pt x="5379148" y="954786"/>
                  </a:lnTo>
                  <a:lnTo>
                    <a:pt x="5362170" y="966501"/>
                  </a:lnTo>
                  <a:lnTo>
                    <a:pt x="5341619" y="970788"/>
                  </a:lnTo>
                  <a:close/>
                </a:path>
              </a:pathLst>
            </a:custGeom>
            <a:solidFill>
              <a:srgbClr val="080E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4218431" y="2051303"/>
              <a:ext cx="5394960" cy="970915"/>
            </a:xfrm>
            <a:custGeom>
              <a:avLst/>
              <a:gdLst/>
              <a:ahLst/>
              <a:cxnLst/>
              <a:rect l="l" t="t" r="r" b="b"/>
              <a:pathLst>
                <a:path w="5394959" h="970914">
                  <a:moveTo>
                    <a:pt x="0" y="54863"/>
                  </a:moveTo>
                  <a:lnTo>
                    <a:pt x="4262" y="33432"/>
                  </a:lnTo>
                  <a:lnTo>
                    <a:pt x="15811" y="16001"/>
                  </a:lnTo>
                  <a:lnTo>
                    <a:pt x="32789" y="4286"/>
                  </a:lnTo>
                  <a:lnTo>
                    <a:pt x="53339" y="0"/>
                  </a:lnTo>
                  <a:lnTo>
                    <a:pt x="5341619" y="0"/>
                  </a:lnTo>
                  <a:lnTo>
                    <a:pt x="5362170" y="4286"/>
                  </a:lnTo>
                  <a:lnTo>
                    <a:pt x="5379148" y="16001"/>
                  </a:lnTo>
                  <a:lnTo>
                    <a:pt x="5390697" y="33432"/>
                  </a:lnTo>
                  <a:lnTo>
                    <a:pt x="5394960" y="54863"/>
                  </a:lnTo>
                  <a:lnTo>
                    <a:pt x="5394960" y="915924"/>
                  </a:lnTo>
                  <a:lnTo>
                    <a:pt x="5390697" y="937355"/>
                  </a:lnTo>
                  <a:lnTo>
                    <a:pt x="5379148" y="954786"/>
                  </a:lnTo>
                  <a:lnTo>
                    <a:pt x="5362170" y="966501"/>
                  </a:lnTo>
                  <a:lnTo>
                    <a:pt x="5341619" y="970788"/>
                  </a:lnTo>
                  <a:lnTo>
                    <a:pt x="53339" y="970788"/>
                  </a:lnTo>
                  <a:lnTo>
                    <a:pt x="32789" y="966501"/>
                  </a:lnTo>
                  <a:lnTo>
                    <a:pt x="15811" y="954786"/>
                  </a:lnTo>
                  <a:lnTo>
                    <a:pt x="4262" y="937355"/>
                  </a:lnTo>
                  <a:lnTo>
                    <a:pt x="0" y="915924"/>
                  </a:lnTo>
                  <a:lnTo>
                    <a:pt x="0" y="54863"/>
                  </a:lnTo>
                  <a:close/>
                </a:path>
              </a:pathLst>
            </a:custGeom>
            <a:ln w="15240">
              <a:solidFill>
                <a:srgbClr val="41467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4233672" y="2068068"/>
              <a:ext cx="510540" cy="937260"/>
            </a:xfrm>
            <a:custGeom>
              <a:avLst/>
              <a:gdLst/>
              <a:ahLst/>
              <a:cxnLst/>
              <a:rect l="l" t="t" r="r" b="b"/>
              <a:pathLst>
                <a:path w="510539" h="937260">
                  <a:moveTo>
                    <a:pt x="475487" y="937259"/>
                  </a:moveTo>
                  <a:lnTo>
                    <a:pt x="35052" y="937259"/>
                  </a:lnTo>
                  <a:lnTo>
                    <a:pt x="21859" y="934592"/>
                  </a:lnTo>
                  <a:lnTo>
                    <a:pt x="10668" y="927353"/>
                  </a:lnTo>
                  <a:lnTo>
                    <a:pt x="2905" y="916685"/>
                  </a:lnTo>
                  <a:lnTo>
                    <a:pt x="0" y="903732"/>
                  </a:lnTo>
                  <a:lnTo>
                    <a:pt x="0" y="33527"/>
                  </a:lnTo>
                  <a:lnTo>
                    <a:pt x="2905" y="20573"/>
                  </a:lnTo>
                  <a:lnTo>
                    <a:pt x="10668" y="9905"/>
                  </a:lnTo>
                  <a:lnTo>
                    <a:pt x="21859" y="2666"/>
                  </a:lnTo>
                  <a:lnTo>
                    <a:pt x="35052" y="0"/>
                  </a:lnTo>
                  <a:lnTo>
                    <a:pt x="475487" y="0"/>
                  </a:lnTo>
                  <a:lnTo>
                    <a:pt x="489323" y="2666"/>
                  </a:lnTo>
                  <a:lnTo>
                    <a:pt x="500443" y="9905"/>
                  </a:lnTo>
                  <a:lnTo>
                    <a:pt x="507849" y="20573"/>
                  </a:lnTo>
                  <a:lnTo>
                    <a:pt x="510539" y="33527"/>
                  </a:lnTo>
                  <a:lnTo>
                    <a:pt x="510539" y="903732"/>
                  </a:lnTo>
                  <a:lnTo>
                    <a:pt x="507849" y="916685"/>
                  </a:lnTo>
                  <a:lnTo>
                    <a:pt x="500443" y="927353"/>
                  </a:lnTo>
                  <a:lnTo>
                    <a:pt x="489323" y="934592"/>
                  </a:lnTo>
                  <a:lnTo>
                    <a:pt x="475487" y="937259"/>
                  </a:lnTo>
                  <a:close/>
                </a:path>
              </a:pathLst>
            </a:custGeom>
            <a:solidFill>
              <a:srgbClr val="282D5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89119" y="2438400"/>
              <a:ext cx="199643" cy="199643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4859518" y="2177216"/>
            <a:ext cx="4203700" cy="68326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200" b="1">
                <a:solidFill>
                  <a:srgbClr val="E4DBE6"/>
                </a:solidFill>
                <a:latin typeface="Trebuchet MS"/>
                <a:cs typeface="Trebuchet MS"/>
              </a:rPr>
              <a:t>Frontend</a:t>
            </a:r>
            <a:r>
              <a:rPr dirty="0" sz="1200" spc="95" b="1">
                <a:solidFill>
                  <a:srgbClr val="E4DBE6"/>
                </a:solidFill>
                <a:latin typeface="Trebuchet MS"/>
                <a:cs typeface="Trebuchet MS"/>
              </a:rPr>
              <a:t> </a:t>
            </a:r>
            <a:r>
              <a:rPr dirty="0" sz="1200" spc="-20" b="1">
                <a:solidFill>
                  <a:srgbClr val="E4DBE6"/>
                </a:solidFill>
                <a:latin typeface="Trebuchet MS"/>
                <a:cs typeface="Trebuchet MS"/>
              </a:rPr>
              <a:t>Layer</a:t>
            </a:r>
            <a:endParaRPr sz="1200">
              <a:latin typeface="Trebuchet MS"/>
              <a:cs typeface="Trebuchet MS"/>
            </a:endParaRPr>
          </a:p>
          <a:p>
            <a:pPr marL="12700" marR="5080">
              <a:lnSpc>
                <a:spcPct val="132000"/>
              </a:lnSpc>
              <a:spcBef>
                <a:spcPts val="535"/>
              </a:spcBef>
            </a:pPr>
            <a:r>
              <a:rPr dirty="0" sz="1000" spc="85">
                <a:solidFill>
                  <a:srgbClr val="E4DBE6"/>
                </a:solidFill>
                <a:latin typeface="Calibri"/>
                <a:cs typeface="Calibri"/>
              </a:rPr>
              <a:t>HTML5,</a:t>
            </a:r>
            <a:r>
              <a:rPr dirty="0" sz="1000" spc="70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000" spc="100">
                <a:solidFill>
                  <a:srgbClr val="E4DBE6"/>
                </a:solidFill>
                <a:latin typeface="Calibri"/>
                <a:cs typeface="Calibri"/>
              </a:rPr>
              <a:t>Bootstrap</a:t>
            </a:r>
            <a:r>
              <a:rPr dirty="0" sz="1000" spc="30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E4DBE6"/>
                </a:solidFill>
                <a:latin typeface="Calibri"/>
                <a:cs typeface="Calibri"/>
              </a:rPr>
              <a:t>5,</a:t>
            </a:r>
            <a:r>
              <a:rPr dirty="0" sz="1000" spc="50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000" spc="90">
                <a:solidFill>
                  <a:srgbClr val="E4DBE6"/>
                </a:solidFill>
                <a:latin typeface="Calibri"/>
                <a:cs typeface="Calibri"/>
              </a:rPr>
              <a:t>JavaScript,</a:t>
            </a:r>
            <a:r>
              <a:rPr dirty="0" sz="1000" spc="60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000" spc="130">
                <a:solidFill>
                  <a:srgbClr val="E4DBE6"/>
                </a:solidFill>
                <a:latin typeface="Calibri"/>
                <a:cs typeface="Calibri"/>
              </a:rPr>
              <a:t>and</a:t>
            </a:r>
            <a:r>
              <a:rPr dirty="0" sz="1000" spc="40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000" spc="75">
                <a:solidFill>
                  <a:srgbClr val="E4DBE6"/>
                </a:solidFill>
                <a:latin typeface="Calibri"/>
                <a:cs typeface="Calibri"/>
              </a:rPr>
              <a:t>Chart.js</a:t>
            </a:r>
            <a:r>
              <a:rPr dirty="0" sz="1000" spc="50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000" spc="90">
                <a:solidFill>
                  <a:srgbClr val="E4DBE6"/>
                </a:solidFill>
                <a:latin typeface="Calibri"/>
                <a:cs typeface="Calibri"/>
              </a:rPr>
              <a:t>delivering</a:t>
            </a:r>
            <a:r>
              <a:rPr dirty="0" sz="1000" spc="85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000" spc="70">
                <a:solidFill>
                  <a:srgbClr val="E4DBE6"/>
                </a:solidFill>
                <a:latin typeface="Calibri"/>
                <a:cs typeface="Calibri"/>
              </a:rPr>
              <a:t>responsive, </a:t>
            </a:r>
            <a:r>
              <a:rPr dirty="0" sz="1000" spc="75">
                <a:solidFill>
                  <a:srgbClr val="E4DBE6"/>
                </a:solidFill>
                <a:latin typeface="Calibri"/>
                <a:cs typeface="Calibri"/>
              </a:rPr>
              <a:t>intuitive</a:t>
            </a:r>
            <a:r>
              <a:rPr dirty="0" sz="1000" spc="65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000" spc="95">
                <a:solidFill>
                  <a:srgbClr val="E4DBE6"/>
                </a:solidFill>
                <a:latin typeface="Calibri"/>
                <a:cs typeface="Calibri"/>
              </a:rPr>
              <a:t>user</a:t>
            </a:r>
            <a:r>
              <a:rPr dirty="0" sz="1000" spc="50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000" spc="75">
                <a:solidFill>
                  <a:srgbClr val="E4DBE6"/>
                </a:solidFill>
                <a:latin typeface="Calibri"/>
                <a:cs typeface="Calibri"/>
              </a:rPr>
              <a:t>interfaces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210811" y="3140964"/>
            <a:ext cx="5410200" cy="984885"/>
            <a:chOff x="4210811" y="3140964"/>
            <a:chExt cx="5410200" cy="984885"/>
          </a:xfrm>
        </p:grpSpPr>
        <p:sp>
          <p:nvSpPr>
            <p:cNvPr id="12" name="object 12"/>
            <p:cNvSpPr/>
            <p:nvPr/>
          </p:nvSpPr>
          <p:spPr>
            <a:xfrm>
              <a:off x="4218431" y="3148584"/>
              <a:ext cx="5394960" cy="969644"/>
            </a:xfrm>
            <a:custGeom>
              <a:avLst/>
              <a:gdLst/>
              <a:ahLst/>
              <a:cxnLst/>
              <a:rect l="l" t="t" r="r" b="b"/>
              <a:pathLst>
                <a:path w="5394959" h="969645">
                  <a:moveTo>
                    <a:pt x="5341619" y="969264"/>
                  </a:moveTo>
                  <a:lnTo>
                    <a:pt x="53339" y="969264"/>
                  </a:lnTo>
                  <a:lnTo>
                    <a:pt x="32789" y="965215"/>
                  </a:lnTo>
                  <a:lnTo>
                    <a:pt x="15811" y="954024"/>
                  </a:lnTo>
                  <a:lnTo>
                    <a:pt x="4262" y="937117"/>
                  </a:lnTo>
                  <a:lnTo>
                    <a:pt x="0" y="915923"/>
                  </a:lnTo>
                  <a:lnTo>
                    <a:pt x="0" y="53339"/>
                  </a:lnTo>
                  <a:lnTo>
                    <a:pt x="4262" y="32789"/>
                  </a:lnTo>
                  <a:lnTo>
                    <a:pt x="15811" y="15811"/>
                  </a:lnTo>
                  <a:lnTo>
                    <a:pt x="32789" y="4262"/>
                  </a:lnTo>
                  <a:lnTo>
                    <a:pt x="53339" y="0"/>
                  </a:lnTo>
                  <a:lnTo>
                    <a:pt x="5341619" y="0"/>
                  </a:lnTo>
                  <a:lnTo>
                    <a:pt x="5362170" y="4262"/>
                  </a:lnTo>
                  <a:lnTo>
                    <a:pt x="5379148" y="15811"/>
                  </a:lnTo>
                  <a:lnTo>
                    <a:pt x="5390697" y="32789"/>
                  </a:lnTo>
                  <a:lnTo>
                    <a:pt x="5394960" y="53339"/>
                  </a:lnTo>
                  <a:lnTo>
                    <a:pt x="5394960" y="915923"/>
                  </a:lnTo>
                  <a:lnTo>
                    <a:pt x="5390697" y="937117"/>
                  </a:lnTo>
                  <a:lnTo>
                    <a:pt x="5379148" y="954024"/>
                  </a:lnTo>
                  <a:lnTo>
                    <a:pt x="5362170" y="965215"/>
                  </a:lnTo>
                  <a:lnTo>
                    <a:pt x="5341619" y="969264"/>
                  </a:lnTo>
                  <a:close/>
                </a:path>
              </a:pathLst>
            </a:custGeom>
            <a:solidFill>
              <a:srgbClr val="080E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4218431" y="3148584"/>
              <a:ext cx="5394960" cy="969644"/>
            </a:xfrm>
            <a:custGeom>
              <a:avLst/>
              <a:gdLst/>
              <a:ahLst/>
              <a:cxnLst/>
              <a:rect l="l" t="t" r="r" b="b"/>
              <a:pathLst>
                <a:path w="5394959" h="969645">
                  <a:moveTo>
                    <a:pt x="0" y="53339"/>
                  </a:moveTo>
                  <a:lnTo>
                    <a:pt x="4262" y="32789"/>
                  </a:lnTo>
                  <a:lnTo>
                    <a:pt x="15811" y="15811"/>
                  </a:lnTo>
                  <a:lnTo>
                    <a:pt x="32789" y="4262"/>
                  </a:lnTo>
                  <a:lnTo>
                    <a:pt x="53339" y="0"/>
                  </a:lnTo>
                  <a:lnTo>
                    <a:pt x="5341619" y="0"/>
                  </a:lnTo>
                  <a:lnTo>
                    <a:pt x="5362170" y="4262"/>
                  </a:lnTo>
                  <a:lnTo>
                    <a:pt x="5379148" y="15811"/>
                  </a:lnTo>
                  <a:lnTo>
                    <a:pt x="5390697" y="32789"/>
                  </a:lnTo>
                  <a:lnTo>
                    <a:pt x="5394960" y="53339"/>
                  </a:lnTo>
                  <a:lnTo>
                    <a:pt x="5394960" y="915923"/>
                  </a:lnTo>
                  <a:lnTo>
                    <a:pt x="5390697" y="937117"/>
                  </a:lnTo>
                  <a:lnTo>
                    <a:pt x="5379148" y="954024"/>
                  </a:lnTo>
                  <a:lnTo>
                    <a:pt x="5362170" y="965215"/>
                  </a:lnTo>
                  <a:lnTo>
                    <a:pt x="5341619" y="969264"/>
                  </a:lnTo>
                  <a:lnTo>
                    <a:pt x="53339" y="969264"/>
                  </a:lnTo>
                  <a:lnTo>
                    <a:pt x="32789" y="965215"/>
                  </a:lnTo>
                  <a:lnTo>
                    <a:pt x="15811" y="954024"/>
                  </a:lnTo>
                  <a:lnTo>
                    <a:pt x="4262" y="937117"/>
                  </a:lnTo>
                  <a:lnTo>
                    <a:pt x="0" y="915923"/>
                  </a:lnTo>
                  <a:lnTo>
                    <a:pt x="0" y="53339"/>
                  </a:lnTo>
                  <a:close/>
                </a:path>
              </a:pathLst>
            </a:custGeom>
            <a:ln w="15240">
              <a:solidFill>
                <a:srgbClr val="41467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233672" y="3163824"/>
              <a:ext cx="510540" cy="939165"/>
            </a:xfrm>
            <a:custGeom>
              <a:avLst/>
              <a:gdLst/>
              <a:ahLst/>
              <a:cxnLst/>
              <a:rect l="l" t="t" r="r" b="b"/>
              <a:pathLst>
                <a:path w="510539" h="939164">
                  <a:moveTo>
                    <a:pt x="475487" y="938783"/>
                  </a:moveTo>
                  <a:lnTo>
                    <a:pt x="35052" y="938783"/>
                  </a:lnTo>
                  <a:lnTo>
                    <a:pt x="21859" y="936093"/>
                  </a:lnTo>
                  <a:lnTo>
                    <a:pt x="10668" y="928687"/>
                  </a:lnTo>
                  <a:lnTo>
                    <a:pt x="2905" y="917567"/>
                  </a:lnTo>
                  <a:lnTo>
                    <a:pt x="0" y="903731"/>
                  </a:lnTo>
                  <a:lnTo>
                    <a:pt x="0" y="35051"/>
                  </a:lnTo>
                  <a:lnTo>
                    <a:pt x="2905" y="21859"/>
                  </a:lnTo>
                  <a:lnTo>
                    <a:pt x="10668" y="10667"/>
                  </a:lnTo>
                  <a:lnTo>
                    <a:pt x="21859" y="2905"/>
                  </a:lnTo>
                  <a:lnTo>
                    <a:pt x="35052" y="0"/>
                  </a:lnTo>
                  <a:lnTo>
                    <a:pt x="475487" y="0"/>
                  </a:lnTo>
                  <a:lnTo>
                    <a:pt x="489323" y="2905"/>
                  </a:lnTo>
                  <a:lnTo>
                    <a:pt x="500443" y="10667"/>
                  </a:lnTo>
                  <a:lnTo>
                    <a:pt x="507849" y="21859"/>
                  </a:lnTo>
                  <a:lnTo>
                    <a:pt x="510539" y="35051"/>
                  </a:lnTo>
                  <a:lnTo>
                    <a:pt x="510539" y="903731"/>
                  </a:lnTo>
                  <a:lnTo>
                    <a:pt x="507849" y="917567"/>
                  </a:lnTo>
                  <a:lnTo>
                    <a:pt x="500443" y="928687"/>
                  </a:lnTo>
                  <a:lnTo>
                    <a:pt x="489323" y="936093"/>
                  </a:lnTo>
                  <a:lnTo>
                    <a:pt x="475487" y="938783"/>
                  </a:lnTo>
                  <a:close/>
                </a:path>
              </a:pathLst>
            </a:custGeom>
            <a:solidFill>
              <a:srgbClr val="282D5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389119" y="3535680"/>
              <a:ext cx="199643" cy="199643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4859518" y="3273038"/>
            <a:ext cx="4323080" cy="68516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200" spc="45" b="1">
                <a:solidFill>
                  <a:srgbClr val="E4DBE6"/>
                </a:solidFill>
                <a:latin typeface="Trebuchet MS"/>
                <a:cs typeface="Trebuchet MS"/>
              </a:rPr>
              <a:t>Backend</a:t>
            </a:r>
            <a:r>
              <a:rPr dirty="0" sz="1200" spc="-75" b="1">
                <a:solidFill>
                  <a:srgbClr val="E4DBE6"/>
                </a:solidFill>
                <a:latin typeface="Trebuchet MS"/>
                <a:cs typeface="Trebuchet MS"/>
              </a:rPr>
              <a:t> </a:t>
            </a:r>
            <a:r>
              <a:rPr dirty="0" sz="1200" spc="-10" b="1">
                <a:solidFill>
                  <a:srgbClr val="E4DBE6"/>
                </a:solidFill>
                <a:latin typeface="Trebuchet MS"/>
                <a:cs typeface="Trebuchet MS"/>
              </a:rPr>
              <a:t>Infrastructure</a:t>
            </a:r>
            <a:endParaRPr sz="1200">
              <a:latin typeface="Trebuchet MS"/>
              <a:cs typeface="Trebuchet MS"/>
            </a:endParaRPr>
          </a:p>
          <a:p>
            <a:pPr marL="12700" marR="5080">
              <a:lnSpc>
                <a:spcPct val="132000"/>
              </a:lnSpc>
              <a:spcBef>
                <a:spcPts val="550"/>
              </a:spcBef>
            </a:pPr>
            <a:r>
              <a:rPr dirty="0" sz="1000" spc="110">
                <a:solidFill>
                  <a:srgbClr val="E4DBE6"/>
                </a:solidFill>
                <a:latin typeface="Calibri"/>
                <a:cs typeface="Calibri"/>
              </a:rPr>
              <a:t>Flask</a:t>
            </a:r>
            <a:r>
              <a:rPr dirty="0" sz="1000" spc="30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000" spc="130">
                <a:solidFill>
                  <a:srgbClr val="E4DBE6"/>
                </a:solidFill>
                <a:latin typeface="Calibri"/>
                <a:cs typeface="Calibri"/>
              </a:rPr>
              <a:t>and</a:t>
            </a:r>
            <a:r>
              <a:rPr dirty="0" sz="1000" spc="40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000" spc="120">
                <a:solidFill>
                  <a:srgbClr val="E4DBE6"/>
                </a:solidFill>
                <a:latin typeface="Calibri"/>
                <a:cs typeface="Calibri"/>
              </a:rPr>
              <a:t>Python</a:t>
            </a:r>
            <a:r>
              <a:rPr dirty="0" sz="1000" spc="65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000" spc="145">
                <a:solidFill>
                  <a:srgbClr val="E4DBE6"/>
                </a:solidFill>
                <a:latin typeface="Calibri"/>
                <a:cs typeface="Calibri"/>
              </a:rPr>
              <a:t>REST</a:t>
            </a:r>
            <a:r>
              <a:rPr dirty="0" sz="1000" spc="50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000" spc="120">
                <a:solidFill>
                  <a:srgbClr val="E4DBE6"/>
                </a:solidFill>
                <a:latin typeface="Calibri"/>
                <a:cs typeface="Calibri"/>
              </a:rPr>
              <a:t>APIs</a:t>
            </a:r>
            <a:r>
              <a:rPr dirty="0" sz="1000" spc="20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000" spc="100">
                <a:solidFill>
                  <a:srgbClr val="E4DBE6"/>
                </a:solidFill>
                <a:latin typeface="Calibri"/>
                <a:cs typeface="Calibri"/>
              </a:rPr>
              <a:t>with</a:t>
            </a:r>
            <a:r>
              <a:rPr dirty="0" sz="1000" spc="45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000" spc="110">
                <a:solidFill>
                  <a:srgbClr val="E4DBE6"/>
                </a:solidFill>
                <a:latin typeface="Calibri"/>
                <a:cs typeface="Calibri"/>
              </a:rPr>
              <a:t>SQLite</a:t>
            </a:r>
            <a:r>
              <a:rPr dirty="0" sz="1000" spc="35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000" spc="105">
                <a:solidFill>
                  <a:srgbClr val="E4DBE6"/>
                </a:solidFill>
                <a:latin typeface="Calibri"/>
                <a:cs typeface="Calibri"/>
              </a:rPr>
              <a:t>database</a:t>
            </a:r>
            <a:r>
              <a:rPr dirty="0" sz="1000" spc="50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000" spc="130">
                <a:solidFill>
                  <a:srgbClr val="E4DBE6"/>
                </a:solidFill>
                <a:latin typeface="Calibri"/>
                <a:cs typeface="Calibri"/>
              </a:rPr>
              <a:t>and</a:t>
            </a:r>
            <a:r>
              <a:rPr dirty="0" sz="1000" spc="50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000" spc="125">
                <a:solidFill>
                  <a:srgbClr val="E4DBE6"/>
                </a:solidFill>
                <a:latin typeface="Calibri"/>
                <a:cs typeface="Calibri"/>
              </a:rPr>
              <a:t>SQLAlchemy </a:t>
            </a:r>
            <a:r>
              <a:rPr dirty="0" sz="1000" spc="145">
                <a:solidFill>
                  <a:srgbClr val="E4DBE6"/>
                </a:solidFill>
                <a:latin typeface="Calibri"/>
                <a:cs typeface="Calibri"/>
              </a:rPr>
              <a:t>ORM</a:t>
            </a:r>
            <a:r>
              <a:rPr dirty="0" sz="1000" spc="40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000" spc="110">
                <a:solidFill>
                  <a:srgbClr val="E4DBE6"/>
                </a:solidFill>
                <a:latin typeface="Calibri"/>
                <a:cs typeface="Calibri"/>
              </a:rPr>
              <a:t>ensuring</a:t>
            </a:r>
            <a:r>
              <a:rPr dirty="0" sz="1000" spc="70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000" spc="75">
                <a:solidFill>
                  <a:srgbClr val="E4DBE6"/>
                </a:solidFill>
                <a:latin typeface="Calibri"/>
                <a:cs typeface="Calibri"/>
              </a:rPr>
              <a:t>efficient</a:t>
            </a:r>
            <a:r>
              <a:rPr dirty="0" sz="1000" spc="65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000" spc="100">
                <a:solidFill>
                  <a:srgbClr val="E4DBE6"/>
                </a:solidFill>
                <a:latin typeface="Calibri"/>
                <a:cs typeface="Calibri"/>
              </a:rPr>
              <a:t>data</a:t>
            </a:r>
            <a:r>
              <a:rPr dirty="0" sz="1000" spc="55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000" spc="135">
                <a:solidFill>
                  <a:srgbClr val="E4DBE6"/>
                </a:solidFill>
                <a:latin typeface="Calibri"/>
                <a:cs typeface="Calibri"/>
              </a:rPr>
              <a:t>management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210811" y="4238244"/>
            <a:ext cx="5410200" cy="984885"/>
            <a:chOff x="4210811" y="4238244"/>
            <a:chExt cx="5410200" cy="984885"/>
          </a:xfrm>
        </p:grpSpPr>
        <p:sp>
          <p:nvSpPr>
            <p:cNvPr id="18" name="object 18"/>
            <p:cNvSpPr/>
            <p:nvPr/>
          </p:nvSpPr>
          <p:spPr>
            <a:xfrm>
              <a:off x="4218431" y="4245864"/>
              <a:ext cx="5394960" cy="969644"/>
            </a:xfrm>
            <a:custGeom>
              <a:avLst/>
              <a:gdLst/>
              <a:ahLst/>
              <a:cxnLst/>
              <a:rect l="l" t="t" r="r" b="b"/>
              <a:pathLst>
                <a:path w="5394959" h="969645">
                  <a:moveTo>
                    <a:pt x="5341619" y="969264"/>
                  </a:moveTo>
                  <a:lnTo>
                    <a:pt x="53339" y="969264"/>
                  </a:lnTo>
                  <a:lnTo>
                    <a:pt x="32789" y="965001"/>
                  </a:lnTo>
                  <a:lnTo>
                    <a:pt x="15811" y="953452"/>
                  </a:lnTo>
                  <a:lnTo>
                    <a:pt x="4262" y="936474"/>
                  </a:lnTo>
                  <a:lnTo>
                    <a:pt x="0" y="915923"/>
                  </a:lnTo>
                  <a:lnTo>
                    <a:pt x="0" y="53339"/>
                  </a:lnTo>
                  <a:lnTo>
                    <a:pt x="4262" y="32789"/>
                  </a:lnTo>
                  <a:lnTo>
                    <a:pt x="15811" y="15811"/>
                  </a:lnTo>
                  <a:lnTo>
                    <a:pt x="32789" y="4262"/>
                  </a:lnTo>
                  <a:lnTo>
                    <a:pt x="53339" y="0"/>
                  </a:lnTo>
                  <a:lnTo>
                    <a:pt x="5341619" y="0"/>
                  </a:lnTo>
                  <a:lnTo>
                    <a:pt x="5362170" y="4262"/>
                  </a:lnTo>
                  <a:lnTo>
                    <a:pt x="5379148" y="15811"/>
                  </a:lnTo>
                  <a:lnTo>
                    <a:pt x="5390697" y="32789"/>
                  </a:lnTo>
                  <a:lnTo>
                    <a:pt x="5394960" y="53339"/>
                  </a:lnTo>
                  <a:lnTo>
                    <a:pt x="5394960" y="915923"/>
                  </a:lnTo>
                  <a:lnTo>
                    <a:pt x="5390697" y="936474"/>
                  </a:lnTo>
                  <a:lnTo>
                    <a:pt x="5379148" y="953452"/>
                  </a:lnTo>
                  <a:lnTo>
                    <a:pt x="5362170" y="965001"/>
                  </a:lnTo>
                  <a:lnTo>
                    <a:pt x="5341619" y="969264"/>
                  </a:lnTo>
                  <a:close/>
                </a:path>
              </a:pathLst>
            </a:custGeom>
            <a:solidFill>
              <a:srgbClr val="080E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4218431" y="4245864"/>
              <a:ext cx="5394960" cy="969644"/>
            </a:xfrm>
            <a:custGeom>
              <a:avLst/>
              <a:gdLst/>
              <a:ahLst/>
              <a:cxnLst/>
              <a:rect l="l" t="t" r="r" b="b"/>
              <a:pathLst>
                <a:path w="5394959" h="969645">
                  <a:moveTo>
                    <a:pt x="0" y="53339"/>
                  </a:moveTo>
                  <a:lnTo>
                    <a:pt x="4262" y="32789"/>
                  </a:lnTo>
                  <a:lnTo>
                    <a:pt x="15811" y="15811"/>
                  </a:lnTo>
                  <a:lnTo>
                    <a:pt x="32789" y="4262"/>
                  </a:lnTo>
                  <a:lnTo>
                    <a:pt x="53339" y="0"/>
                  </a:lnTo>
                  <a:lnTo>
                    <a:pt x="5341619" y="0"/>
                  </a:lnTo>
                  <a:lnTo>
                    <a:pt x="5362170" y="4262"/>
                  </a:lnTo>
                  <a:lnTo>
                    <a:pt x="5379148" y="15811"/>
                  </a:lnTo>
                  <a:lnTo>
                    <a:pt x="5390697" y="32789"/>
                  </a:lnTo>
                  <a:lnTo>
                    <a:pt x="5394960" y="53339"/>
                  </a:lnTo>
                  <a:lnTo>
                    <a:pt x="5394960" y="915923"/>
                  </a:lnTo>
                  <a:lnTo>
                    <a:pt x="5390697" y="936474"/>
                  </a:lnTo>
                  <a:lnTo>
                    <a:pt x="5379148" y="953452"/>
                  </a:lnTo>
                  <a:lnTo>
                    <a:pt x="5362170" y="965001"/>
                  </a:lnTo>
                  <a:lnTo>
                    <a:pt x="5341619" y="969264"/>
                  </a:lnTo>
                  <a:lnTo>
                    <a:pt x="53339" y="969264"/>
                  </a:lnTo>
                  <a:lnTo>
                    <a:pt x="32789" y="965001"/>
                  </a:lnTo>
                  <a:lnTo>
                    <a:pt x="15811" y="953452"/>
                  </a:lnTo>
                  <a:lnTo>
                    <a:pt x="4262" y="936474"/>
                  </a:lnTo>
                  <a:lnTo>
                    <a:pt x="0" y="915923"/>
                  </a:lnTo>
                  <a:lnTo>
                    <a:pt x="0" y="53339"/>
                  </a:lnTo>
                  <a:close/>
                </a:path>
              </a:pathLst>
            </a:custGeom>
            <a:ln w="15240">
              <a:solidFill>
                <a:srgbClr val="41467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4233672" y="4261104"/>
              <a:ext cx="510540" cy="939165"/>
            </a:xfrm>
            <a:custGeom>
              <a:avLst/>
              <a:gdLst/>
              <a:ahLst/>
              <a:cxnLst/>
              <a:rect l="l" t="t" r="r" b="b"/>
              <a:pathLst>
                <a:path w="510539" h="939164">
                  <a:moveTo>
                    <a:pt x="475487" y="938783"/>
                  </a:moveTo>
                  <a:lnTo>
                    <a:pt x="35052" y="938783"/>
                  </a:lnTo>
                  <a:lnTo>
                    <a:pt x="21859" y="936093"/>
                  </a:lnTo>
                  <a:lnTo>
                    <a:pt x="10668" y="928687"/>
                  </a:lnTo>
                  <a:lnTo>
                    <a:pt x="2905" y="917567"/>
                  </a:lnTo>
                  <a:lnTo>
                    <a:pt x="0" y="903731"/>
                  </a:lnTo>
                  <a:lnTo>
                    <a:pt x="0" y="35051"/>
                  </a:lnTo>
                  <a:lnTo>
                    <a:pt x="2905" y="21216"/>
                  </a:lnTo>
                  <a:lnTo>
                    <a:pt x="10668" y="10096"/>
                  </a:lnTo>
                  <a:lnTo>
                    <a:pt x="21859" y="2690"/>
                  </a:lnTo>
                  <a:lnTo>
                    <a:pt x="35052" y="0"/>
                  </a:lnTo>
                  <a:lnTo>
                    <a:pt x="475487" y="0"/>
                  </a:lnTo>
                  <a:lnTo>
                    <a:pt x="489323" y="2690"/>
                  </a:lnTo>
                  <a:lnTo>
                    <a:pt x="500443" y="10096"/>
                  </a:lnTo>
                  <a:lnTo>
                    <a:pt x="507849" y="21216"/>
                  </a:lnTo>
                  <a:lnTo>
                    <a:pt x="510539" y="35051"/>
                  </a:lnTo>
                  <a:lnTo>
                    <a:pt x="510539" y="903731"/>
                  </a:lnTo>
                  <a:lnTo>
                    <a:pt x="507849" y="917567"/>
                  </a:lnTo>
                  <a:lnTo>
                    <a:pt x="500443" y="928687"/>
                  </a:lnTo>
                  <a:lnTo>
                    <a:pt x="489323" y="936093"/>
                  </a:lnTo>
                  <a:lnTo>
                    <a:pt x="475487" y="938783"/>
                  </a:lnTo>
                  <a:close/>
                </a:path>
              </a:pathLst>
            </a:custGeom>
            <a:solidFill>
              <a:srgbClr val="282D5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389119" y="4628388"/>
              <a:ext cx="199643" cy="204215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4859518" y="4370272"/>
            <a:ext cx="4316095" cy="68516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200" b="1">
                <a:solidFill>
                  <a:srgbClr val="E4DBE6"/>
                </a:solidFill>
                <a:latin typeface="Trebuchet MS"/>
                <a:cs typeface="Trebuchet MS"/>
              </a:rPr>
              <a:t>AI/ML</a:t>
            </a:r>
            <a:r>
              <a:rPr dirty="0" sz="1200" spc="120" b="1">
                <a:solidFill>
                  <a:srgbClr val="E4DBE6"/>
                </a:solidFill>
                <a:latin typeface="Trebuchet MS"/>
                <a:cs typeface="Trebuchet MS"/>
              </a:rPr>
              <a:t> </a:t>
            </a:r>
            <a:r>
              <a:rPr dirty="0" sz="1200" spc="-10" b="1">
                <a:solidFill>
                  <a:srgbClr val="E4DBE6"/>
                </a:solidFill>
                <a:latin typeface="Trebuchet MS"/>
                <a:cs typeface="Trebuchet MS"/>
              </a:rPr>
              <a:t>Engine</a:t>
            </a:r>
            <a:endParaRPr sz="1200">
              <a:latin typeface="Trebuchet MS"/>
              <a:cs typeface="Trebuchet MS"/>
            </a:endParaRPr>
          </a:p>
          <a:p>
            <a:pPr marL="12700" marR="5080">
              <a:lnSpc>
                <a:spcPct val="132100"/>
              </a:lnSpc>
              <a:spcBef>
                <a:spcPts val="545"/>
              </a:spcBef>
            </a:pPr>
            <a:r>
              <a:rPr dirty="0" sz="1000" spc="155">
                <a:solidFill>
                  <a:srgbClr val="E4DBE6"/>
                </a:solidFill>
                <a:latin typeface="Calibri"/>
                <a:cs typeface="Calibri"/>
              </a:rPr>
              <a:t>Hugging</a:t>
            </a:r>
            <a:r>
              <a:rPr dirty="0" sz="1000" spc="70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000" spc="125">
                <a:solidFill>
                  <a:srgbClr val="E4DBE6"/>
                </a:solidFill>
                <a:latin typeface="Calibri"/>
                <a:cs typeface="Calibri"/>
              </a:rPr>
              <a:t>Face</a:t>
            </a:r>
            <a:r>
              <a:rPr dirty="0" sz="1000" spc="25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000" spc="80">
                <a:solidFill>
                  <a:srgbClr val="E4DBE6"/>
                </a:solidFill>
                <a:latin typeface="Calibri"/>
                <a:cs typeface="Calibri"/>
              </a:rPr>
              <a:t>Transformers,</a:t>
            </a:r>
            <a:r>
              <a:rPr dirty="0" sz="1000" spc="100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000" spc="85">
                <a:solidFill>
                  <a:srgbClr val="E4DBE6"/>
                </a:solidFill>
                <a:latin typeface="Calibri"/>
                <a:cs typeface="Calibri"/>
              </a:rPr>
              <a:t>MarianMT</a:t>
            </a:r>
            <a:r>
              <a:rPr dirty="0" sz="1000" spc="75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000" spc="55">
                <a:solidFill>
                  <a:srgbClr val="E4DBE6"/>
                </a:solidFill>
                <a:latin typeface="Calibri"/>
                <a:cs typeface="Calibri"/>
              </a:rPr>
              <a:t>for </a:t>
            </a:r>
            <a:r>
              <a:rPr dirty="0" sz="1000" spc="75">
                <a:solidFill>
                  <a:srgbClr val="E4DBE6"/>
                </a:solidFill>
                <a:latin typeface="Calibri"/>
                <a:cs typeface="Calibri"/>
              </a:rPr>
              <a:t>translation,</a:t>
            </a:r>
            <a:r>
              <a:rPr dirty="0" sz="1000" spc="80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000" spc="90">
                <a:solidFill>
                  <a:srgbClr val="E4DBE6"/>
                </a:solidFill>
                <a:latin typeface="Calibri"/>
                <a:cs typeface="Calibri"/>
              </a:rPr>
              <a:t>PyTorch,</a:t>
            </a:r>
            <a:r>
              <a:rPr dirty="0" sz="1000" spc="70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000" spc="105">
                <a:solidFill>
                  <a:srgbClr val="E4DBE6"/>
                </a:solidFill>
                <a:latin typeface="Calibri"/>
                <a:cs typeface="Calibri"/>
              </a:rPr>
              <a:t>and </a:t>
            </a:r>
            <a:r>
              <a:rPr dirty="0" sz="1000" spc="110">
                <a:solidFill>
                  <a:srgbClr val="E4DBE6"/>
                </a:solidFill>
                <a:latin typeface="Calibri"/>
                <a:cs typeface="Calibri"/>
              </a:rPr>
              <a:t>SentencePiece</a:t>
            </a:r>
            <a:r>
              <a:rPr dirty="0" sz="1000" spc="65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000" spc="110">
                <a:solidFill>
                  <a:srgbClr val="E4DBE6"/>
                </a:solidFill>
                <a:latin typeface="Calibri"/>
                <a:cs typeface="Calibri"/>
              </a:rPr>
              <a:t>powering</a:t>
            </a:r>
            <a:r>
              <a:rPr dirty="0" sz="1000" spc="114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000" spc="85">
                <a:solidFill>
                  <a:srgbClr val="E4DBE6"/>
                </a:solidFill>
                <a:latin typeface="Calibri"/>
                <a:cs typeface="Calibri"/>
              </a:rPr>
              <a:t>intelligent</a:t>
            </a:r>
            <a:r>
              <a:rPr dirty="0" sz="1000" spc="105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000" spc="90">
                <a:solidFill>
                  <a:srgbClr val="E4DBE6"/>
                </a:solidFill>
                <a:latin typeface="Calibri"/>
                <a:cs typeface="Calibri"/>
              </a:rPr>
              <a:t>responses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4210811" y="5335523"/>
            <a:ext cx="5410200" cy="984885"/>
            <a:chOff x="4210811" y="5335523"/>
            <a:chExt cx="5410200" cy="984885"/>
          </a:xfrm>
        </p:grpSpPr>
        <p:sp>
          <p:nvSpPr>
            <p:cNvPr id="24" name="object 24"/>
            <p:cNvSpPr/>
            <p:nvPr/>
          </p:nvSpPr>
          <p:spPr>
            <a:xfrm>
              <a:off x="4218431" y="5343143"/>
              <a:ext cx="5394960" cy="969644"/>
            </a:xfrm>
            <a:custGeom>
              <a:avLst/>
              <a:gdLst/>
              <a:ahLst/>
              <a:cxnLst/>
              <a:rect l="l" t="t" r="r" b="b"/>
              <a:pathLst>
                <a:path w="5394959" h="969645">
                  <a:moveTo>
                    <a:pt x="5341619" y="969264"/>
                  </a:moveTo>
                  <a:lnTo>
                    <a:pt x="53339" y="969264"/>
                  </a:lnTo>
                  <a:lnTo>
                    <a:pt x="32789" y="965001"/>
                  </a:lnTo>
                  <a:lnTo>
                    <a:pt x="15811" y="953452"/>
                  </a:lnTo>
                  <a:lnTo>
                    <a:pt x="4262" y="936474"/>
                  </a:lnTo>
                  <a:lnTo>
                    <a:pt x="0" y="915923"/>
                  </a:lnTo>
                  <a:lnTo>
                    <a:pt x="0" y="53339"/>
                  </a:lnTo>
                  <a:lnTo>
                    <a:pt x="4262" y="32146"/>
                  </a:lnTo>
                  <a:lnTo>
                    <a:pt x="15811" y="15239"/>
                  </a:lnTo>
                  <a:lnTo>
                    <a:pt x="32789" y="4048"/>
                  </a:lnTo>
                  <a:lnTo>
                    <a:pt x="53339" y="0"/>
                  </a:lnTo>
                  <a:lnTo>
                    <a:pt x="5341619" y="0"/>
                  </a:lnTo>
                  <a:lnTo>
                    <a:pt x="5362170" y="4048"/>
                  </a:lnTo>
                  <a:lnTo>
                    <a:pt x="5379148" y="15239"/>
                  </a:lnTo>
                  <a:lnTo>
                    <a:pt x="5390697" y="32146"/>
                  </a:lnTo>
                  <a:lnTo>
                    <a:pt x="5394960" y="53339"/>
                  </a:lnTo>
                  <a:lnTo>
                    <a:pt x="5394960" y="915923"/>
                  </a:lnTo>
                  <a:lnTo>
                    <a:pt x="5390697" y="936474"/>
                  </a:lnTo>
                  <a:lnTo>
                    <a:pt x="5379148" y="953452"/>
                  </a:lnTo>
                  <a:lnTo>
                    <a:pt x="5362170" y="965001"/>
                  </a:lnTo>
                  <a:lnTo>
                    <a:pt x="5341619" y="969264"/>
                  </a:lnTo>
                  <a:close/>
                </a:path>
              </a:pathLst>
            </a:custGeom>
            <a:solidFill>
              <a:srgbClr val="080E3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4218431" y="5343143"/>
              <a:ext cx="5394960" cy="969644"/>
            </a:xfrm>
            <a:custGeom>
              <a:avLst/>
              <a:gdLst/>
              <a:ahLst/>
              <a:cxnLst/>
              <a:rect l="l" t="t" r="r" b="b"/>
              <a:pathLst>
                <a:path w="5394959" h="969645">
                  <a:moveTo>
                    <a:pt x="0" y="53339"/>
                  </a:moveTo>
                  <a:lnTo>
                    <a:pt x="4262" y="32146"/>
                  </a:lnTo>
                  <a:lnTo>
                    <a:pt x="15811" y="15239"/>
                  </a:lnTo>
                  <a:lnTo>
                    <a:pt x="32789" y="4048"/>
                  </a:lnTo>
                  <a:lnTo>
                    <a:pt x="53339" y="0"/>
                  </a:lnTo>
                  <a:lnTo>
                    <a:pt x="5341619" y="0"/>
                  </a:lnTo>
                  <a:lnTo>
                    <a:pt x="5362170" y="4048"/>
                  </a:lnTo>
                  <a:lnTo>
                    <a:pt x="5379148" y="15239"/>
                  </a:lnTo>
                  <a:lnTo>
                    <a:pt x="5390697" y="32146"/>
                  </a:lnTo>
                  <a:lnTo>
                    <a:pt x="5394960" y="53339"/>
                  </a:lnTo>
                  <a:lnTo>
                    <a:pt x="5394960" y="915923"/>
                  </a:lnTo>
                  <a:lnTo>
                    <a:pt x="5390697" y="936474"/>
                  </a:lnTo>
                  <a:lnTo>
                    <a:pt x="5379148" y="953452"/>
                  </a:lnTo>
                  <a:lnTo>
                    <a:pt x="5362170" y="965001"/>
                  </a:lnTo>
                  <a:lnTo>
                    <a:pt x="5341619" y="969264"/>
                  </a:lnTo>
                  <a:lnTo>
                    <a:pt x="53339" y="969264"/>
                  </a:lnTo>
                  <a:lnTo>
                    <a:pt x="32789" y="965001"/>
                  </a:lnTo>
                  <a:lnTo>
                    <a:pt x="15811" y="953452"/>
                  </a:lnTo>
                  <a:lnTo>
                    <a:pt x="4262" y="936474"/>
                  </a:lnTo>
                  <a:lnTo>
                    <a:pt x="0" y="915923"/>
                  </a:lnTo>
                  <a:lnTo>
                    <a:pt x="0" y="53339"/>
                  </a:lnTo>
                  <a:close/>
                </a:path>
              </a:pathLst>
            </a:custGeom>
            <a:ln w="15240">
              <a:solidFill>
                <a:srgbClr val="41467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4233672" y="5358383"/>
              <a:ext cx="510540" cy="937260"/>
            </a:xfrm>
            <a:custGeom>
              <a:avLst/>
              <a:gdLst/>
              <a:ahLst/>
              <a:cxnLst/>
              <a:rect l="l" t="t" r="r" b="b"/>
              <a:pathLst>
                <a:path w="510539" h="937260">
                  <a:moveTo>
                    <a:pt x="475487" y="937260"/>
                  </a:moveTo>
                  <a:lnTo>
                    <a:pt x="35052" y="937260"/>
                  </a:lnTo>
                  <a:lnTo>
                    <a:pt x="21859" y="934593"/>
                  </a:lnTo>
                  <a:lnTo>
                    <a:pt x="10668" y="927354"/>
                  </a:lnTo>
                  <a:lnTo>
                    <a:pt x="2905" y="916686"/>
                  </a:lnTo>
                  <a:lnTo>
                    <a:pt x="0" y="903731"/>
                  </a:lnTo>
                  <a:lnTo>
                    <a:pt x="0" y="35051"/>
                  </a:lnTo>
                  <a:lnTo>
                    <a:pt x="2905" y="21216"/>
                  </a:lnTo>
                  <a:lnTo>
                    <a:pt x="10668" y="10096"/>
                  </a:lnTo>
                  <a:lnTo>
                    <a:pt x="21859" y="2690"/>
                  </a:lnTo>
                  <a:lnTo>
                    <a:pt x="35052" y="0"/>
                  </a:lnTo>
                  <a:lnTo>
                    <a:pt x="475487" y="0"/>
                  </a:lnTo>
                  <a:lnTo>
                    <a:pt x="489323" y="2690"/>
                  </a:lnTo>
                  <a:lnTo>
                    <a:pt x="500443" y="10096"/>
                  </a:lnTo>
                  <a:lnTo>
                    <a:pt x="507849" y="21216"/>
                  </a:lnTo>
                  <a:lnTo>
                    <a:pt x="510539" y="35051"/>
                  </a:lnTo>
                  <a:lnTo>
                    <a:pt x="510539" y="903731"/>
                  </a:lnTo>
                  <a:lnTo>
                    <a:pt x="507849" y="916686"/>
                  </a:lnTo>
                  <a:lnTo>
                    <a:pt x="500443" y="927354"/>
                  </a:lnTo>
                  <a:lnTo>
                    <a:pt x="489323" y="934593"/>
                  </a:lnTo>
                  <a:lnTo>
                    <a:pt x="475487" y="937260"/>
                  </a:lnTo>
                  <a:close/>
                </a:path>
              </a:pathLst>
            </a:custGeom>
            <a:solidFill>
              <a:srgbClr val="282D5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389119" y="5725668"/>
              <a:ext cx="199643" cy="199643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4859518" y="5467663"/>
            <a:ext cx="4466590" cy="68516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200" spc="10" b="1">
                <a:solidFill>
                  <a:srgbClr val="E4DBE6"/>
                </a:solidFill>
                <a:latin typeface="Trebuchet MS"/>
                <a:cs typeface="Trebuchet MS"/>
              </a:rPr>
              <a:t>Security</a:t>
            </a:r>
            <a:r>
              <a:rPr dirty="0" sz="1200" spc="125" b="1">
                <a:solidFill>
                  <a:srgbClr val="E4DBE6"/>
                </a:solidFill>
                <a:latin typeface="Trebuchet MS"/>
                <a:cs typeface="Trebuchet MS"/>
              </a:rPr>
              <a:t> </a:t>
            </a:r>
            <a:r>
              <a:rPr dirty="0" sz="1200" spc="-10" b="1">
                <a:solidFill>
                  <a:srgbClr val="E4DBE6"/>
                </a:solidFill>
                <a:latin typeface="Trebuchet MS"/>
                <a:cs typeface="Trebuchet MS"/>
              </a:rPr>
              <a:t>Framework</a:t>
            </a:r>
            <a:endParaRPr sz="1200">
              <a:latin typeface="Trebuchet MS"/>
              <a:cs typeface="Trebuchet MS"/>
            </a:endParaRPr>
          </a:p>
          <a:p>
            <a:pPr marL="12700" marR="5080">
              <a:lnSpc>
                <a:spcPct val="132000"/>
              </a:lnSpc>
              <a:spcBef>
                <a:spcPts val="545"/>
              </a:spcBef>
            </a:pPr>
            <a:r>
              <a:rPr dirty="0" sz="1000" spc="155">
                <a:solidFill>
                  <a:srgbClr val="E4DBE6"/>
                </a:solidFill>
                <a:latin typeface="Calibri"/>
                <a:cs typeface="Calibri"/>
              </a:rPr>
              <a:t>JWT</a:t>
            </a:r>
            <a:r>
              <a:rPr dirty="0" sz="1000" spc="45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000" spc="105">
                <a:solidFill>
                  <a:srgbClr val="E4DBE6"/>
                </a:solidFill>
                <a:latin typeface="Calibri"/>
                <a:cs typeface="Calibri"/>
              </a:rPr>
              <a:t>tokens</a:t>
            </a:r>
            <a:r>
              <a:rPr dirty="0" sz="1000" spc="55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000" spc="130">
                <a:solidFill>
                  <a:srgbClr val="E4DBE6"/>
                </a:solidFill>
                <a:latin typeface="Calibri"/>
                <a:cs typeface="Calibri"/>
              </a:rPr>
              <a:t>and</a:t>
            </a:r>
            <a:r>
              <a:rPr dirty="0" sz="1000" spc="55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000" spc="105">
                <a:solidFill>
                  <a:srgbClr val="E4DBE6"/>
                </a:solidFill>
                <a:latin typeface="Calibri"/>
                <a:cs typeface="Calibri"/>
              </a:rPr>
              <a:t>Flask-</a:t>
            </a:r>
            <a:r>
              <a:rPr dirty="0" sz="1000" spc="125">
                <a:solidFill>
                  <a:srgbClr val="E4DBE6"/>
                </a:solidFill>
                <a:latin typeface="Calibri"/>
                <a:cs typeface="Calibri"/>
              </a:rPr>
              <a:t>Login</a:t>
            </a:r>
            <a:r>
              <a:rPr dirty="0" sz="1000" spc="40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000" spc="110">
                <a:solidFill>
                  <a:srgbClr val="E4DBE6"/>
                </a:solidFill>
                <a:latin typeface="Calibri"/>
                <a:cs typeface="Calibri"/>
              </a:rPr>
              <a:t>ensuring</a:t>
            </a:r>
            <a:r>
              <a:rPr dirty="0" sz="1000" spc="70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000" spc="105">
                <a:solidFill>
                  <a:srgbClr val="E4DBE6"/>
                </a:solidFill>
                <a:latin typeface="Calibri"/>
                <a:cs typeface="Calibri"/>
              </a:rPr>
              <a:t>data</a:t>
            </a:r>
            <a:r>
              <a:rPr dirty="0" sz="1000" spc="45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000" spc="90">
                <a:solidFill>
                  <a:srgbClr val="E4DBE6"/>
                </a:solidFill>
                <a:latin typeface="Calibri"/>
                <a:cs typeface="Calibri"/>
              </a:rPr>
              <a:t>privacy</a:t>
            </a:r>
            <a:r>
              <a:rPr dirty="0" sz="1000" spc="60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000" spc="100">
                <a:solidFill>
                  <a:srgbClr val="E4DBE6"/>
                </a:solidFill>
                <a:latin typeface="Calibri"/>
                <a:cs typeface="Calibri"/>
              </a:rPr>
              <a:t>with</a:t>
            </a:r>
            <a:r>
              <a:rPr dirty="0" sz="1000" spc="50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000" spc="110">
                <a:solidFill>
                  <a:srgbClr val="E4DBE6"/>
                </a:solidFill>
                <a:latin typeface="Calibri"/>
                <a:cs typeface="Calibri"/>
              </a:rPr>
              <a:t>Docker-</a:t>
            </a:r>
            <a:r>
              <a:rPr dirty="0" sz="1000" spc="95">
                <a:solidFill>
                  <a:srgbClr val="E4DBE6"/>
                </a:solidFill>
                <a:latin typeface="Calibri"/>
                <a:cs typeface="Calibri"/>
              </a:rPr>
              <a:t>based </a:t>
            </a:r>
            <a:r>
              <a:rPr dirty="0" sz="1000" spc="100">
                <a:solidFill>
                  <a:srgbClr val="E4DBE6"/>
                </a:solidFill>
                <a:latin typeface="Calibri"/>
                <a:cs typeface="Calibri"/>
              </a:rPr>
              <a:t>cloud-</a:t>
            </a:r>
            <a:r>
              <a:rPr dirty="0" sz="1000" spc="95">
                <a:solidFill>
                  <a:srgbClr val="E4DBE6"/>
                </a:solidFill>
                <a:latin typeface="Calibri"/>
                <a:cs typeface="Calibri"/>
              </a:rPr>
              <a:t>ready</a:t>
            </a:r>
            <a:r>
              <a:rPr dirty="0" sz="1000" spc="75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000" spc="100">
                <a:solidFill>
                  <a:srgbClr val="E4DBE6"/>
                </a:solidFill>
                <a:latin typeface="Calibri"/>
                <a:cs typeface="Calibri"/>
              </a:rPr>
              <a:t>deployment</a:t>
            </a:r>
            <a:endParaRPr sz="1000">
              <a:latin typeface="Calibri"/>
              <a:cs typeface="Calibri"/>
            </a:endParaRPr>
          </a:p>
        </p:txBody>
      </p:sp>
      <p:pic>
        <p:nvPicPr>
          <p:cNvPr id="29" name="object 2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837676" y="6382511"/>
            <a:ext cx="1220723" cy="31241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20911" y="6377939"/>
            <a:ext cx="1196339" cy="29565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9539">
              <a:lnSpc>
                <a:spcPct val="100000"/>
              </a:lnSpc>
              <a:spcBef>
                <a:spcPts val="105"/>
              </a:spcBef>
            </a:pPr>
            <a:r>
              <a:rPr dirty="0" sz="2500"/>
              <a:t>Strategic</a:t>
            </a:r>
            <a:r>
              <a:rPr dirty="0" sz="2500" spc="-10"/>
              <a:t> </a:t>
            </a:r>
            <a:r>
              <a:rPr dirty="0" sz="2500"/>
              <a:t>Objectives</a:t>
            </a:r>
            <a:r>
              <a:rPr dirty="0" sz="2500" spc="-10"/>
              <a:t> </a:t>
            </a:r>
            <a:r>
              <a:rPr dirty="0" sz="2500"/>
              <a:t>Driving</a:t>
            </a:r>
            <a:r>
              <a:rPr dirty="0" sz="2500" spc="10"/>
              <a:t> </a:t>
            </a:r>
            <a:r>
              <a:rPr dirty="0" sz="2500" spc="-10"/>
              <a:t>Impact</a:t>
            </a:r>
            <a:endParaRPr sz="2500"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1104" y="2592323"/>
            <a:ext cx="64008" cy="6400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38364" y="2114734"/>
            <a:ext cx="5125720" cy="60261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500" b="1">
                <a:solidFill>
                  <a:srgbClr val="FFFFFF"/>
                </a:solidFill>
                <a:latin typeface="Trebuchet MS"/>
                <a:cs typeface="Trebuchet MS"/>
              </a:rPr>
              <a:t>Primary</a:t>
            </a:r>
            <a:r>
              <a:rPr dirty="0" sz="1500" spc="2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00" spc="-20" b="1">
                <a:solidFill>
                  <a:srgbClr val="FFFFFF"/>
                </a:solidFill>
                <a:latin typeface="Trebuchet MS"/>
                <a:cs typeface="Trebuchet MS"/>
              </a:rPr>
              <a:t>Goals</a:t>
            </a:r>
            <a:endParaRPr sz="1500">
              <a:latin typeface="Trebuchet MS"/>
              <a:cs typeface="Trebuchet MS"/>
            </a:endParaRPr>
          </a:p>
          <a:p>
            <a:pPr marL="205740">
              <a:lnSpc>
                <a:spcPct val="100000"/>
              </a:lnSpc>
              <a:spcBef>
                <a:spcPts val="1535"/>
              </a:spcBef>
            </a:pPr>
            <a:r>
              <a:rPr dirty="0" sz="1000" spc="85">
                <a:solidFill>
                  <a:srgbClr val="E4DBE6"/>
                </a:solidFill>
                <a:latin typeface="Calibri"/>
                <a:cs typeface="Calibri"/>
              </a:rPr>
              <a:t>Deliver</a:t>
            </a:r>
            <a:r>
              <a:rPr dirty="0" sz="1000" spc="55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000" spc="95">
                <a:solidFill>
                  <a:srgbClr val="E4DBE6"/>
                </a:solidFill>
                <a:latin typeface="Calibri"/>
                <a:cs typeface="Calibri"/>
              </a:rPr>
              <a:t>accessible</a:t>
            </a:r>
            <a:r>
              <a:rPr dirty="0" sz="1000" spc="55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000" spc="50">
                <a:solidFill>
                  <a:srgbClr val="E4DBE6"/>
                </a:solidFill>
                <a:latin typeface="Calibri"/>
                <a:cs typeface="Calibri"/>
              </a:rPr>
              <a:t>24/7 </a:t>
            </a:r>
            <a:r>
              <a:rPr dirty="0" sz="1000" spc="85">
                <a:solidFill>
                  <a:srgbClr val="E4DBE6"/>
                </a:solidFill>
                <a:latin typeface="Calibri"/>
                <a:cs typeface="Calibri"/>
              </a:rPr>
              <a:t>AI-</a:t>
            </a:r>
            <a:r>
              <a:rPr dirty="0" sz="1000" spc="90">
                <a:solidFill>
                  <a:srgbClr val="E4DBE6"/>
                </a:solidFill>
                <a:latin typeface="Calibri"/>
                <a:cs typeface="Calibri"/>
              </a:rPr>
              <a:t>driven</a:t>
            </a:r>
            <a:r>
              <a:rPr dirty="0" sz="1000" spc="65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000" spc="100">
                <a:solidFill>
                  <a:srgbClr val="E4DBE6"/>
                </a:solidFill>
                <a:latin typeface="Calibri"/>
                <a:cs typeface="Calibri"/>
              </a:rPr>
              <a:t>health</a:t>
            </a:r>
            <a:r>
              <a:rPr dirty="0" sz="1000" spc="50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000" spc="100">
                <a:solidFill>
                  <a:srgbClr val="E4DBE6"/>
                </a:solidFill>
                <a:latin typeface="Calibri"/>
                <a:cs typeface="Calibri"/>
              </a:rPr>
              <a:t>support</a:t>
            </a:r>
            <a:r>
              <a:rPr dirty="0" sz="1000" spc="85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000" spc="75">
                <a:solidFill>
                  <a:srgbClr val="E4DBE6"/>
                </a:solidFill>
                <a:latin typeface="Calibri"/>
                <a:cs typeface="Calibri"/>
              </a:rPr>
              <a:t>to</a:t>
            </a:r>
            <a:r>
              <a:rPr dirty="0" sz="1000" spc="45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000" spc="100">
                <a:solidFill>
                  <a:srgbClr val="E4DBE6"/>
                </a:solidFill>
                <a:latin typeface="Calibri"/>
                <a:cs typeface="Calibri"/>
              </a:rPr>
              <a:t>underserved </a:t>
            </a:r>
            <a:r>
              <a:rPr dirty="0" sz="1000" spc="110">
                <a:solidFill>
                  <a:srgbClr val="E4DBE6"/>
                </a:solidFill>
                <a:latin typeface="Calibri"/>
                <a:cs typeface="Calibri"/>
              </a:rPr>
              <a:t>communities</a:t>
            </a:r>
            <a:endParaRPr sz="10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1104" y="3054095"/>
            <a:ext cx="64008" cy="6400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631903" y="3001730"/>
            <a:ext cx="419735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114">
                <a:solidFill>
                  <a:srgbClr val="E4DBE6"/>
                </a:solidFill>
                <a:latin typeface="Calibri"/>
                <a:cs typeface="Calibri"/>
              </a:rPr>
              <a:t>Enable</a:t>
            </a:r>
            <a:r>
              <a:rPr dirty="0" sz="1000" spc="60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000" spc="100">
                <a:solidFill>
                  <a:srgbClr val="E4DBE6"/>
                </a:solidFill>
                <a:latin typeface="Calibri"/>
                <a:cs typeface="Calibri"/>
              </a:rPr>
              <a:t>multilingual</a:t>
            </a:r>
            <a:r>
              <a:rPr dirty="0" sz="1000" spc="60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000" spc="95">
                <a:solidFill>
                  <a:srgbClr val="E4DBE6"/>
                </a:solidFill>
                <a:latin typeface="Calibri"/>
                <a:cs typeface="Calibri"/>
              </a:rPr>
              <a:t>healthcare</a:t>
            </a:r>
            <a:r>
              <a:rPr dirty="0" sz="1000" spc="60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000" spc="110">
                <a:solidFill>
                  <a:srgbClr val="E4DBE6"/>
                </a:solidFill>
                <a:latin typeface="Calibri"/>
                <a:cs typeface="Calibri"/>
              </a:rPr>
              <a:t>access</a:t>
            </a:r>
            <a:r>
              <a:rPr dirty="0" sz="1000" spc="40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000" spc="114">
                <a:solidFill>
                  <a:srgbClr val="E4DBE6"/>
                </a:solidFill>
                <a:latin typeface="Calibri"/>
                <a:cs typeface="Calibri"/>
              </a:rPr>
              <a:t>breaking</a:t>
            </a:r>
            <a:r>
              <a:rPr dirty="0" sz="1000" spc="80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000" spc="130">
                <a:solidFill>
                  <a:srgbClr val="E4DBE6"/>
                </a:solidFill>
                <a:latin typeface="Calibri"/>
                <a:cs typeface="Calibri"/>
              </a:rPr>
              <a:t>language</a:t>
            </a:r>
            <a:r>
              <a:rPr dirty="0" sz="1000" spc="55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000" spc="65">
                <a:solidFill>
                  <a:srgbClr val="E4DBE6"/>
                </a:solidFill>
                <a:latin typeface="Calibri"/>
                <a:cs typeface="Calibri"/>
              </a:rPr>
              <a:t>barriers</a:t>
            </a:r>
            <a:endParaRPr sz="10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51104" y="3517392"/>
            <a:ext cx="64008" cy="64008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631903" y="3465071"/>
            <a:ext cx="458279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100">
                <a:solidFill>
                  <a:srgbClr val="E4DBE6"/>
                </a:solidFill>
                <a:latin typeface="Calibri"/>
                <a:cs typeface="Calibri"/>
              </a:rPr>
              <a:t>Track</a:t>
            </a:r>
            <a:r>
              <a:rPr dirty="0" sz="1000" spc="50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000" spc="130">
                <a:solidFill>
                  <a:srgbClr val="E4DBE6"/>
                </a:solidFill>
                <a:latin typeface="Calibri"/>
                <a:cs typeface="Calibri"/>
              </a:rPr>
              <a:t>and</a:t>
            </a:r>
            <a:r>
              <a:rPr dirty="0" sz="1000" spc="45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000" spc="80">
                <a:solidFill>
                  <a:srgbClr val="E4DBE6"/>
                </a:solidFill>
                <a:latin typeface="Calibri"/>
                <a:cs typeface="Calibri"/>
              </a:rPr>
              <a:t>visualise</a:t>
            </a:r>
            <a:r>
              <a:rPr dirty="0" sz="1000" spc="35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000" spc="95">
                <a:solidFill>
                  <a:srgbClr val="E4DBE6"/>
                </a:solidFill>
                <a:latin typeface="Calibri"/>
                <a:cs typeface="Calibri"/>
              </a:rPr>
              <a:t>user</a:t>
            </a:r>
            <a:r>
              <a:rPr dirty="0" sz="1000" spc="65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000" spc="95">
                <a:solidFill>
                  <a:srgbClr val="E4DBE6"/>
                </a:solidFill>
                <a:latin typeface="Calibri"/>
                <a:cs typeface="Calibri"/>
              </a:rPr>
              <a:t>wellness</a:t>
            </a:r>
            <a:r>
              <a:rPr dirty="0" sz="1000" spc="50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000" spc="100">
                <a:solidFill>
                  <a:srgbClr val="E4DBE6"/>
                </a:solidFill>
                <a:latin typeface="Calibri"/>
                <a:cs typeface="Calibri"/>
              </a:rPr>
              <a:t>progress</a:t>
            </a:r>
            <a:r>
              <a:rPr dirty="0" sz="1000" spc="95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000" spc="55">
                <a:solidFill>
                  <a:srgbClr val="E4DBE6"/>
                </a:solidFill>
                <a:latin typeface="Calibri"/>
                <a:cs typeface="Calibri"/>
              </a:rPr>
              <a:t>for</a:t>
            </a:r>
            <a:r>
              <a:rPr dirty="0" sz="1000" spc="45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000" spc="105">
                <a:solidFill>
                  <a:srgbClr val="E4DBE6"/>
                </a:solidFill>
                <a:latin typeface="Calibri"/>
                <a:cs typeface="Calibri"/>
              </a:rPr>
              <a:t>informed</a:t>
            </a:r>
            <a:r>
              <a:rPr dirty="0" sz="1000" spc="75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000" spc="95">
                <a:solidFill>
                  <a:srgbClr val="E4DBE6"/>
                </a:solidFill>
                <a:latin typeface="Calibri"/>
                <a:cs typeface="Calibri"/>
              </a:rPr>
              <a:t>health</a:t>
            </a:r>
            <a:r>
              <a:rPr dirty="0" sz="1000" spc="45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000" spc="85">
                <a:solidFill>
                  <a:srgbClr val="E4DBE6"/>
                </a:solidFill>
                <a:latin typeface="Calibri"/>
                <a:cs typeface="Calibri"/>
              </a:rPr>
              <a:t>decisions</a:t>
            </a:r>
            <a:endParaRPr sz="100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51104" y="3979164"/>
            <a:ext cx="64008" cy="64008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631903" y="3926893"/>
            <a:ext cx="331851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114">
                <a:solidFill>
                  <a:srgbClr val="E4DBE6"/>
                </a:solidFill>
                <a:latin typeface="Calibri"/>
                <a:cs typeface="Calibri"/>
              </a:rPr>
              <a:t>Ensure</a:t>
            </a:r>
            <a:r>
              <a:rPr dirty="0" sz="1000" spc="60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000" spc="95">
                <a:solidFill>
                  <a:srgbClr val="E4DBE6"/>
                </a:solidFill>
                <a:latin typeface="Calibri"/>
                <a:cs typeface="Calibri"/>
              </a:rPr>
              <a:t>robust</a:t>
            </a:r>
            <a:r>
              <a:rPr dirty="0" sz="1000" spc="65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000" spc="100">
                <a:solidFill>
                  <a:srgbClr val="E4DBE6"/>
                </a:solidFill>
                <a:latin typeface="Calibri"/>
                <a:cs typeface="Calibri"/>
              </a:rPr>
              <a:t>data</a:t>
            </a:r>
            <a:r>
              <a:rPr dirty="0" sz="1000" spc="55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000" spc="85">
                <a:solidFill>
                  <a:srgbClr val="E4DBE6"/>
                </a:solidFill>
                <a:latin typeface="Calibri"/>
                <a:cs typeface="Calibri"/>
              </a:rPr>
              <a:t>privacy</a:t>
            </a:r>
            <a:r>
              <a:rPr dirty="0" sz="1000" spc="70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000" spc="130">
                <a:solidFill>
                  <a:srgbClr val="E4DBE6"/>
                </a:solidFill>
                <a:latin typeface="Calibri"/>
                <a:cs typeface="Calibri"/>
              </a:rPr>
              <a:t>and</a:t>
            </a:r>
            <a:r>
              <a:rPr dirty="0" sz="1000" spc="50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000" spc="85">
                <a:solidFill>
                  <a:srgbClr val="E4DBE6"/>
                </a:solidFill>
                <a:latin typeface="Calibri"/>
                <a:cs typeface="Calibri"/>
              </a:rPr>
              <a:t>security</a:t>
            </a:r>
            <a:r>
              <a:rPr dirty="0" sz="1000" spc="55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000" spc="105">
                <a:solidFill>
                  <a:srgbClr val="E4DBE6"/>
                </a:solidFill>
                <a:latin typeface="Calibri"/>
                <a:cs typeface="Calibri"/>
              </a:rPr>
              <a:t>compliance</a:t>
            </a:r>
            <a:endParaRPr sz="1000">
              <a:latin typeface="Calibri"/>
              <a:cs typeface="Calibri"/>
            </a:endParaRPr>
          </a:p>
        </p:txBody>
      </p:sp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51104" y="4442460"/>
            <a:ext cx="64008" cy="64008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631903" y="4390107"/>
            <a:ext cx="471551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130">
                <a:solidFill>
                  <a:srgbClr val="E4DBE6"/>
                </a:solidFill>
                <a:latin typeface="Calibri"/>
                <a:cs typeface="Calibri"/>
              </a:rPr>
              <a:t>Reduce</a:t>
            </a:r>
            <a:r>
              <a:rPr dirty="0" sz="1000" spc="55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000" spc="105">
                <a:solidFill>
                  <a:srgbClr val="E4DBE6"/>
                </a:solidFill>
                <a:latin typeface="Calibri"/>
                <a:cs typeface="Calibri"/>
              </a:rPr>
              <a:t>unnecessary</a:t>
            </a:r>
            <a:r>
              <a:rPr dirty="0" sz="1000" spc="70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000" spc="85">
                <a:solidFill>
                  <a:srgbClr val="E4DBE6"/>
                </a:solidFill>
                <a:latin typeface="Calibri"/>
                <a:cs typeface="Calibri"/>
              </a:rPr>
              <a:t>routine</a:t>
            </a:r>
            <a:r>
              <a:rPr dirty="0" sz="1000" spc="80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000" spc="90">
                <a:solidFill>
                  <a:srgbClr val="E4DBE6"/>
                </a:solidFill>
                <a:latin typeface="Calibri"/>
                <a:cs typeface="Calibri"/>
              </a:rPr>
              <a:t>hospital</a:t>
            </a:r>
            <a:r>
              <a:rPr dirty="0" sz="1000" spc="75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000" spc="65">
                <a:solidFill>
                  <a:srgbClr val="E4DBE6"/>
                </a:solidFill>
                <a:latin typeface="Calibri"/>
                <a:cs typeface="Calibri"/>
              </a:rPr>
              <a:t>visits</a:t>
            </a:r>
            <a:r>
              <a:rPr dirty="0" sz="1000" spc="50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000" spc="114">
                <a:solidFill>
                  <a:srgbClr val="E4DBE6"/>
                </a:solidFill>
                <a:latin typeface="Calibri"/>
                <a:cs typeface="Calibri"/>
              </a:rPr>
              <a:t>through</a:t>
            </a:r>
            <a:r>
              <a:rPr dirty="0" sz="1000" spc="75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000" spc="90">
                <a:solidFill>
                  <a:srgbClr val="E4DBE6"/>
                </a:solidFill>
                <a:latin typeface="Calibri"/>
                <a:cs typeface="Calibri"/>
              </a:rPr>
              <a:t>preliminary</a:t>
            </a:r>
            <a:r>
              <a:rPr dirty="0" sz="1000" spc="95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000" spc="100">
                <a:solidFill>
                  <a:srgbClr val="E4DBE6"/>
                </a:solidFill>
                <a:latin typeface="Calibri"/>
                <a:cs typeface="Calibri"/>
              </a:rPr>
              <a:t>screening</a:t>
            </a:r>
            <a:endParaRPr sz="1000">
              <a:latin typeface="Calibri"/>
              <a:cs typeface="Calibri"/>
            </a:endParaRPr>
          </a:p>
        </p:txBody>
      </p:sp>
      <p:pic>
        <p:nvPicPr>
          <p:cNvPr id="14" name="object 1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51104" y="4904232"/>
            <a:ext cx="64008" cy="65532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631903" y="4851929"/>
            <a:ext cx="380111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105">
                <a:solidFill>
                  <a:srgbClr val="E4DBE6"/>
                </a:solidFill>
                <a:latin typeface="Calibri"/>
                <a:cs typeface="Calibri"/>
              </a:rPr>
              <a:t>Improve</a:t>
            </a:r>
            <a:r>
              <a:rPr dirty="0" sz="1000" spc="65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000" spc="100">
                <a:solidFill>
                  <a:srgbClr val="E4DBE6"/>
                </a:solidFill>
                <a:latin typeface="Calibri"/>
                <a:cs typeface="Calibri"/>
              </a:rPr>
              <a:t>health</a:t>
            </a:r>
            <a:r>
              <a:rPr dirty="0" sz="1000" spc="55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000" spc="75">
                <a:solidFill>
                  <a:srgbClr val="E4DBE6"/>
                </a:solidFill>
                <a:latin typeface="Calibri"/>
                <a:cs typeface="Calibri"/>
              </a:rPr>
              <a:t>literacy</a:t>
            </a:r>
            <a:r>
              <a:rPr dirty="0" sz="1000" spc="35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000" spc="95">
                <a:solidFill>
                  <a:srgbClr val="E4DBE6"/>
                </a:solidFill>
                <a:latin typeface="Calibri"/>
                <a:cs typeface="Calibri"/>
              </a:rPr>
              <a:t>across</a:t>
            </a:r>
            <a:r>
              <a:rPr dirty="0" sz="1000" spc="30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000" spc="85">
                <a:solidFill>
                  <a:srgbClr val="E4DBE6"/>
                </a:solidFill>
                <a:latin typeface="Calibri"/>
                <a:cs typeface="Calibri"/>
              </a:rPr>
              <a:t>diverse</a:t>
            </a:r>
            <a:r>
              <a:rPr dirty="0" sz="1000" spc="65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000" spc="125">
                <a:solidFill>
                  <a:srgbClr val="E4DBE6"/>
                </a:solidFill>
                <a:latin typeface="Calibri"/>
                <a:cs typeface="Calibri"/>
              </a:rPr>
              <a:t>demographic</a:t>
            </a:r>
            <a:r>
              <a:rPr dirty="0" sz="1000" spc="90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000" spc="105">
                <a:solidFill>
                  <a:srgbClr val="E4DBE6"/>
                </a:solidFill>
                <a:latin typeface="Calibri"/>
                <a:cs typeface="Calibri"/>
              </a:rPr>
              <a:t>groups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224807" y="2100999"/>
            <a:ext cx="1306195" cy="8953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 marL="3175">
              <a:lnSpc>
                <a:spcPct val="100000"/>
              </a:lnSpc>
              <a:spcBef>
                <a:spcPts val="135"/>
              </a:spcBef>
            </a:pPr>
            <a:r>
              <a:rPr dirty="0" sz="3300" spc="400" b="1">
                <a:solidFill>
                  <a:srgbClr val="E4DBE6"/>
                </a:solidFill>
                <a:latin typeface="Trebuchet MS"/>
                <a:cs typeface="Trebuchet MS"/>
              </a:rPr>
              <a:t>90%</a:t>
            </a:r>
            <a:endParaRPr sz="33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1405"/>
              </a:spcBef>
            </a:pPr>
            <a:r>
              <a:rPr dirty="0" sz="1200" spc="50" b="1">
                <a:solidFill>
                  <a:srgbClr val="E4DBE6"/>
                </a:solidFill>
                <a:latin typeface="Trebuchet MS"/>
                <a:cs typeface="Trebuchet MS"/>
              </a:rPr>
              <a:t>User</a:t>
            </a:r>
            <a:r>
              <a:rPr dirty="0" sz="1200" spc="-50" b="1">
                <a:solidFill>
                  <a:srgbClr val="E4DBE6"/>
                </a:solidFill>
                <a:latin typeface="Trebuchet MS"/>
                <a:cs typeface="Trebuchet MS"/>
              </a:rPr>
              <a:t> </a:t>
            </a:r>
            <a:r>
              <a:rPr dirty="0" sz="1200" spc="-10" b="1">
                <a:solidFill>
                  <a:srgbClr val="E4DBE6"/>
                </a:solidFill>
                <a:latin typeface="Trebuchet MS"/>
                <a:cs typeface="Trebuchet MS"/>
              </a:rPr>
              <a:t>Satisfaction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082995" y="3148082"/>
            <a:ext cx="159448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100">
                <a:solidFill>
                  <a:srgbClr val="E4DBE6"/>
                </a:solidFill>
                <a:latin typeface="Calibri"/>
                <a:cs typeface="Calibri"/>
              </a:rPr>
              <a:t>Target</a:t>
            </a:r>
            <a:r>
              <a:rPr dirty="0" sz="1000" spc="55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000" spc="110">
                <a:solidFill>
                  <a:srgbClr val="E4DBE6"/>
                </a:solidFill>
                <a:latin typeface="Calibri"/>
                <a:cs typeface="Calibri"/>
              </a:rPr>
              <a:t>achievement</a:t>
            </a:r>
            <a:r>
              <a:rPr dirty="0" sz="1000" spc="80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000" spc="55">
                <a:solidFill>
                  <a:srgbClr val="E4DBE6"/>
                </a:solidFill>
                <a:latin typeface="Calibri"/>
                <a:cs typeface="Calibri"/>
              </a:rPr>
              <a:t>rate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299526" y="3542755"/>
            <a:ext cx="1155065" cy="89408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 marL="5080">
              <a:lnSpc>
                <a:spcPct val="100000"/>
              </a:lnSpc>
              <a:spcBef>
                <a:spcPts val="135"/>
              </a:spcBef>
            </a:pPr>
            <a:r>
              <a:rPr dirty="0" sz="3300" spc="-25" b="1">
                <a:solidFill>
                  <a:srgbClr val="E4DBE6"/>
                </a:solidFill>
                <a:latin typeface="Trebuchet MS"/>
                <a:cs typeface="Trebuchet MS"/>
              </a:rPr>
              <a:t>&lt;2s</a:t>
            </a:r>
            <a:endParaRPr sz="33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1390"/>
              </a:spcBef>
            </a:pPr>
            <a:r>
              <a:rPr dirty="0" sz="1200" spc="65" b="1">
                <a:solidFill>
                  <a:srgbClr val="E4DBE6"/>
                </a:solidFill>
                <a:latin typeface="Trebuchet MS"/>
                <a:cs typeface="Trebuchet MS"/>
              </a:rPr>
              <a:t>Response</a:t>
            </a:r>
            <a:r>
              <a:rPr dirty="0" sz="1200" spc="-90" b="1">
                <a:solidFill>
                  <a:srgbClr val="E4DBE6"/>
                </a:solidFill>
                <a:latin typeface="Trebuchet MS"/>
                <a:cs typeface="Trebuchet MS"/>
              </a:rPr>
              <a:t> </a:t>
            </a:r>
            <a:r>
              <a:rPr dirty="0" sz="1200" spc="-20" b="1">
                <a:solidFill>
                  <a:srgbClr val="E4DBE6"/>
                </a:solidFill>
                <a:latin typeface="Trebuchet MS"/>
                <a:cs typeface="Trebuchet MS"/>
              </a:rPr>
              <a:t>Time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018990" y="4589837"/>
            <a:ext cx="171958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120">
                <a:solidFill>
                  <a:srgbClr val="E4DBE6"/>
                </a:solidFill>
                <a:latin typeface="Calibri"/>
                <a:cs typeface="Calibri"/>
              </a:rPr>
              <a:t>Lightning-</a:t>
            </a:r>
            <a:r>
              <a:rPr dirty="0" sz="1000" spc="75">
                <a:solidFill>
                  <a:srgbClr val="E4DBE6"/>
                </a:solidFill>
                <a:latin typeface="Calibri"/>
                <a:cs typeface="Calibri"/>
              </a:rPr>
              <a:t>fast</a:t>
            </a:r>
            <a:r>
              <a:rPr dirty="0" sz="1000" spc="60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000" spc="75">
                <a:solidFill>
                  <a:srgbClr val="E4DBE6"/>
                </a:solidFill>
                <a:latin typeface="Calibri"/>
                <a:cs typeface="Calibri"/>
              </a:rPr>
              <a:t>interactions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406220" y="4982816"/>
            <a:ext cx="946150" cy="8953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3300" spc="335" b="1">
                <a:solidFill>
                  <a:srgbClr val="E4DBE6"/>
                </a:solidFill>
                <a:latin typeface="Trebuchet MS"/>
                <a:cs typeface="Trebuchet MS"/>
              </a:rPr>
              <a:t>85%</a:t>
            </a:r>
            <a:endParaRPr sz="3300">
              <a:latin typeface="Trebuchet MS"/>
              <a:cs typeface="Trebuchet MS"/>
            </a:endParaRPr>
          </a:p>
          <a:p>
            <a:pPr marL="27305">
              <a:lnSpc>
                <a:spcPct val="100000"/>
              </a:lnSpc>
              <a:spcBef>
                <a:spcPts val="1405"/>
              </a:spcBef>
            </a:pPr>
            <a:r>
              <a:rPr dirty="0" sz="1200" b="1">
                <a:solidFill>
                  <a:srgbClr val="E4DBE6"/>
                </a:solidFill>
                <a:latin typeface="Trebuchet MS"/>
                <a:cs typeface="Trebuchet MS"/>
              </a:rPr>
              <a:t>AI </a:t>
            </a:r>
            <a:r>
              <a:rPr dirty="0" sz="1200" spc="35" b="1">
                <a:solidFill>
                  <a:srgbClr val="E4DBE6"/>
                </a:solidFill>
                <a:latin typeface="Trebuchet MS"/>
                <a:cs typeface="Trebuchet MS"/>
              </a:rPr>
              <a:t>Accuracy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063262" y="6029949"/>
            <a:ext cx="163195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110">
                <a:solidFill>
                  <a:srgbClr val="E4DBE6"/>
                </a:solidFill>
                <a:latin typeface="Calibri"/>
                <a:cs typeface="Calibri"/>
              </a:rPr>
              <a:t>Diagnostic</a:t>
            </a:r>
            <a:r>
              <a:rPr dirty="0" sz="1000" spc="55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000" spc="90">
                <a:solidFill>
                  <a:srgbClr val="E4DBE6"/>
                </a:solidFill>
                <a:latin typeface="Calibri"/>
                <a:cs typeface="Calibri"/>
              </a:rPr>
              <a:t>precision</a:t>
            </a:r>
            <a:r>
              <a:rPr dirty="0" sz="1000" spc="80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000" spc="90">
                <a:solidFill>
                  <a:srgbClr val="E4DBE6"/>
                </a:solidFill>
                <a:latin typeface="Calibri"/>
                <a:cs typeface="Calibri"/>
              </a:rPr>
              <a:t>goal</a:t>
            </a:r>
            <a:endParaRPr sz="1000">
              <a:latin typeface="Calibri"/>
              <a:cs typeface="Calibri"/>
            </a:endParaRPr>
          </a:p>
        </p:txBody>
      </p:sp>
      <p:pic>
        <p:nvPicPr>
          <p:cNvPr id="22" name="object 2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337803" y="6211823"/>
            <a:ext cx="1720595" cy="43281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20911" y="6377939"/>
            <a:ext cx="1196339" cy="29565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1057656"/>
            <a:ext cx="10058400" cy="1522475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392566" y="2789890"/>
            <a:ext cx="3824604" cy="371475"/>
          </a:xfrm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250" spc="95"/>
              <a:t>Seamless</a:t>
            </a:r>
            <a:r>
              <a:rPr dirty="0" sz="2250" spc="-120"/>
              <a:t> </a:t>
            </a:r>
            <a:r>
              <a:rPr dirty="0" sz="2250" spc="114"/>
              <a:t>System</a:t>
            </a:r>
            <a:r>
              <a:rPr dirty="0" sz="2250" spc="-110"/>
              <a:t> </a:t>
            </a:r>
            <a:r>
              <a:rPr dirty="0" sz="2250" spc="-10"/>
              <a:t>Workflow</a:t>
            </a:r>
            <a:endParaRPr sz="2250"/>
          </a:p>
        </p:txBody>
      </p:sp>
      <p:sp>
        <p:nvSpPr>
          <p:cNvPr id="5" name="object 5"/>
          <p:cNvSpPr txBox="1"/>
          <p:nvPr/>
        </p:nvSpPr>
        <p:spPr>
          <a:xfrm>
            <a:off x="392684" y="3452948"/>
            <a:ext cx="1079500" cy="23050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350" b="1">
                <a:solidFill>
                  <a:srgbClr val="FFFFFF"/>
                </a:solidFill>
                <a:latin typeface="Trebuchet MS"/>
                <a:cs typeface="Trebuchet MS"/>
              </a:rPr>
              <a:t>User</a:t>
            </a:r>
            <a:r>
              <a:rPr dirty="0" sz="1350" spc="2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50" spc="-20" b="1">
                <a:solidFill>
                  <a:srgbClr val="FFFFFF"/>
                </a:solidFill>
                <a:latin typeface="Trebuchet MS"/>
                <a:cs typeface="Trebuchet MS"/>
              </a:rPr>
              <a:t>Journey</a:t>
            </a:r>
            <a:endParaRPr sz="1350">
              <a:latin typeface="Trebuchet MS"/>
              <a:cs typeface="Trebuchet MS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99287" y="3814572"/>
            <a:ext cx="586739" cy="2144267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087627" y="3914602"/>
            <a:ext cx="2661920" cy="4889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50" spc="-20" b="1">
                <a:solidFill>
                  <a:srgbClr val="E4DBE6"/>
                </a:solidFill>
                <a:latin typeface="Trebuchet MS"/>
                <a:cs typeface="Trebuchet MS"/>
              </a:rPr>
              <a:t>Authentication </a:t>
            </a:r>
            <a:r>
              <a:rPr dirty="0" sz="1150" b="1">
                <a:solidFill>
                  <a:srgbClr val="E4DBE6"/>
                </a:solidFill>
                <a:latin typeface="Trebuchet MS"/>
                <a:cs typeface="Trebuchet MS"/>
              </a:rPr>
              <a:t>&amp;</a:t>
            </a:r>
            <a:r>
              <a:rPr dirty="0" sz="1150" spc="25" b="1">
                <a:solidFill>
                  <a:srgbClr val="E4DBE6"/>
                </a:solidFill>
                <a:latin typeface="Trebuchet MS"/>
                <a:cs typeface="Trebuchet MS"/>
              </a:rPr>
              <a:t> </a:t>
            </a:r>
            <a:r>
              <a:rPr dirty="0" sz="1150" spc="-20" b="1">
                <a:solidFill>
                  <a:srgbClr val="E4DBE6"/>
                </a:solidFill>
                <a:latin typeface="Trebuchet MS"/>
                <a:cs typeface="Trebuchet MS"/>
              </a:rPr>
              <a:t>Profile</a:t>
            </a:r>
            <a:r>
              <a:rPr dirty="0" sz="1150" spc="-30" b="1">
                <a:solidFill>
                  <a:srgbClr val="E4DBE6"/>
                </a:solidFill>
                <a:latin typeface="Trebuchet MS"/>
                <a:cs typeface="Trebuchet MS"/>
              </a:rPr>
              <a:t> </a:t>
            </a:r>
            <a:r>
              <a:rPr dirty="0" sz="1150" spc="-20" b="1">
                <a:solidFill>
                  <a:srgbClr val="E4DBE6"/>
                </a:solidFill>
                <a:latin typeface="Trebuchet MS"/>
                <a:cs typeface="Trebuchet MS"/>
              </a:rPr>
              <a:t>Setup</a:t>
            </a:r>
            <a:endParaRPr sz="11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dirty="0" sz="850" spc="114">
                <a:solidFill>
                  <a:srgbClr val="E4DBE6"/>
                </a:solidFill>
                <a:latin typeface="Calibri"/>
                <a:cs typeface="Calibri"/>
              </a:rPr>
              <a:t>Secure</a:t>
            </a:r>
            <a:r>
              <a:rPr dirty="0" sz="850" spc="70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850" spc="105">
                <a:solidFill>
                  <a:srgbClr val="E4DBE6"/>
                </a:solidFill>
                <a:latin typeface="Calibri"/>
                <a:cs typeface="Calibri"/>
              </a:rPr>
              <a:t>login</a:t>
            </a:r>
            <a:r>
              <a:rPr dirty="0" sz="850" spc="60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850" spc="105">
                <a:solidFill>
                  <a:srgbClr val="E4DBE6"/>
                </a:solidFill>
                <a:latin typeface="Calibri"/>
                <a:cs typeface="Calibri"/>
              </a:rPr>
              <a:t>with</a:t>
            </a:r>
            <a:r>
              <a:rPr dirty="0" sz="850" spc="60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850" spc="95">
                <a:solidFill>
                  <a:srgbClr val="E4DBE6"/>
                </a:solidFill>
                <a:latin typeface="Calibri"/>
                <a:cs typeface="Calibri"/>
              </a:rPr>
              <a:t>personalised</a:t>
            </a:r>
            <a:r>
              <a:rPr dirty="0" sz="850" spc="114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850" spc="70">
                <a:solidFill>
                  <a:srgbClr val="E4DBE6"/>
                </a:solidFill>
                <a:latin typeface="Calibri"/>
                <a:cs typeface="Calibri"/>
              </a:rPr>
              <a:t>profile</a:t>
            </a:r>
            <a:r>
              <a:rPr dirty="0" sz="850" spc="85">
                <a:solidFill>
                  <a:srgbClr val="E4DBE6"/>
                </a:solidFill>
                <a:latin typeface="Calibri"/>
                <a:cs typeface="Calibri"/>
              </a:rPr>
              <a:t> creation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87627" y="4626340"/>
            <a:ext cx="2874010" cy="4889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50" b="1">
                <a:solidFill>
                  <a:srgbClr val="E4DBE6"/>
                </a:solidFill>
                <a:latin typeface="Trebuchet MS"/>
                <a:cs typeface="Trebuchet MS"/>
              </a:rPr>
              <a:t>AI</a:t>
            </a:r>
            <a:r>
              <a:rPr dirty="0" sz="1150" spc="-65" b="1">
                <a:solidFill>
                  <a:srgbClr val="E4DBE6"/>
                </a:solidFill>
                <a:latin typeface="Trebuchet MS"/>
                <a:cs typeface="Trebuchet MS"/>
              </a:rPr>
              <a:t> </a:t>
            </a:r>
            <a:r>
              <a:rPr dirty="0" sz="1150" spc="-10" b="1">
                <a:solidFill>
                  <a:srgbClr val="E4DBE6"/>
                </a:solidFill>
                <a:latin typeface="Trebuchet MS"/>
                <a:cs typeface="Trebuchet MS"/>
              </a:rPr>
              <a:t>Consultation</a:t>
            </a:r>
            <a:endParaRPr sz="11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dirty="0" sz="850" spc="85">
                <a:solidFill>
                  <a:srgbClr val="E4DBE6"/>
                </a:solidFill>
                <a:latin typeface="Calibri"/>
                <a:cs typeface="Calibri"/>
              </a:rPr>
              <a:t>Interactive</a:t>
            </a:r>
            <a:r>
              <a:rPr dirty="0" sz="850" spc="75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850" spc="114">
                <a:solidFill>
                  <a:srgbClr val="E4DBE6"/>
                </a:solidFill>
                <a:latin typeface="Calibri"/>
                <a:cs typeface="Calibri"/>
              </a:rPr>
              <a:t>chat</a:t>
            </a:r>
            <a:r>
              <a:rPr dirty="0" sz="850" spc="55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850" spc="100">
                <a:solidFill>
                  <a:srgbClr val="E4DBE6"/>
                </a:solidFill>
                <a:latin typeface="Calibri"/>
                <a:cs typeface="Calibri"/>
              </a:rPr>
              <a:t>receiving</a:t>
            </a:r>
            <a:r>
              <a:rPr dirty="0" sz="850" spc="90">
                <a:solidFill>
                  <a:srgbClr val="E4DBE6"/>
                </a:solidFill>
                <a:latin typeface="Calibri"/>
                <a:cs typeface="Calibri"/>
              </a:rPr>
              <a:t> intelligent</a:t>
            </a:r>
            <a:r>
              <a:rPr dirty="0" sz="850" spc="75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850" spc="100">
                <a:solidFill>
                  <a:srgbClr val="E4DBE6"/>
                </a:solidFill>
                <a:latin typeface="Calibri"/>
                <a:cs typeface="Calibri"/>
              </a:rPr>
              <a:t>health</a:t>
            </a:r>
            <a:r>
              <a:rPr dirty="0" sz="850" spc="80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850" spc="95">
                <a:solidFill>
                  <a:srgbClr val="E4DBE6"/>
                </a:solidFill>
                <a:latin typeface="Calibri"/>
                <a:cs typeface="Calibri"/>
              </a:rPr>
              <a:t>advice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87627" y="5338079"/>
            <a:ext cx="1261110" cy="1993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50" spc="10" b="1">
                <a:solidFill>
                  <a:srgbClr val="E4DBE6"/>
                </a:solidFill>
                <a:latin typeface="Trebuchet MS"/>
                <a:cs typeface="Trebuchet MS"/>
              </a:rPr>
              <a:t>Progress</a:t>
            </a:r>
            <a:r>
              <a:rPr dirty="0" sz="1150" spc="90" b="1">
                <a:solidFill>
                  <a:srgbClr val="E4DBE6"/>
                </a:solidFill>
                <a:latin typeface="Trebuchet MS"/>
                <a:cs typeface="Trebuchet MS"/>
              </a:rPr>
              <a:t> </a:t>
            </a:r>
            <a:r>
              <a:rPr dirty="0" sz="1150" spc="-10" b="1">
                <a:solidFill>
                  <a:srgbClr val="E4DBE6"/>
                </a:solidFill>
                <a:latin typeface="Trebuchet MS"/>
                <a:cs typeface="Trebuchet MS"/>
              </a:rPr>
              <a:t>Tracking</a:t>
            </a:r>
            <a:endParaRPr sz="115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87655" y="5667263"/>
            <a:ext cx="3194050" cy="1612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850" spc="85">
                <a:solidFill>
                  <a:srgbClr val="E4DBE6"/>
                </a:solidFill>
                <a:latin typeface="Calibri"/>
                <a:cs typeface="Calibri"/>
              </a:rPr>
              <a:t>Monitor</a:t>
            </a:r>
            <a:r>
              <a:rPr dirty="0" sz="850" spc="75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850" spc="100">
                <a:solidFill>
                  <a:srgbClr val="E4DBE6"/>
                </a:solidFill>
                <a:latin typeface="Calibri"/>
                <a:cs typeface="Calibri"/>
              </a:rPr>
              <a:t>wellness</a:t>
            </a:r>
            <a:r>
              <a:rPr dirty="0" sz="850" spc="70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850" spc="95">
                <a:solidFill>
                  <a:srgbClr val="E4DBE6"/>
                </a:solidFill>
                <a:latin typeface="Calibri"/>
                <a:cs typeface="Calibri"/>
              </a:rPr>
              <a:t>scores</a:t>
            </a:r>
            <a:r>
              <a:rPr dirty="0" sz="850" spc="80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850" spc="130">
                <a:solidFill>
                  <a:srgbClr val="E4DBE6"/>
                </a:solidFill>
                <a:latin typeface="Calibri"/>
                <a:cs typeface="Calibri"/>
              </a:rPr>
              <a:t>and</a:t>
            </a:r>
            <a:r>
              <a:rPr dirty="0" sz="850" spc="60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850" spc="110">
                <a:solidFill>
                  <a:srgbClr val="E4DBE6"/>
                </a:solidFill>
                <a:latin typeface="Calibri"/>
                <a:cs typeface="Calibri"/>
              </a:rPr>
              <a:t>access</a:t>
            </a:r>
            <a:r>
              <a:rPr dirty="0" sz="850" spc="70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850" spc="135">
                <a:solidFill>
                  <a:srgbClr val="E4DBE6"/>
                </a:solidFill>
                <a:latin typeface="Calibri"/>
                <a:cs typeface="Calibri"/>
              </a:rPr>
              <a:t>emergency</a:t>
            </a:r>
            <a:r>
              <a:rPr dirty="0" sz="850" spc="75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850" spc="95">
                <a:solidFill>
                  <a:srgbClr val="E4DBE6"/>
                </a:solidFill>
                <a:latin typeface="Calibri"/>
                <a:cs typeface="Calibri"/>
              </a:rPr>
              <a:t>support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164266" y="3452948"/>
            <a:ext cx="1473200" cy="23050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350" b="1">
                <a:solidFill>
                  <a:srgbClr val="FFFFFF"/>
                </a:solidFill>
                <a:latin typeface="Trebuchet MS"/>
                <a:cs typeface="Trebuchet MS"/>
              </a:rPr>
              <a:t>Admin</a:t>
            </a:r>
            <a:r>
              <a:rPr dirty="0" sz="1350" spc="-4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50" spc="-10" b="1">
                <a:solidFill>
                  <a:srgbClr val="FFFFFF"/>
                </a:solidFill>
                <a:latin typeface="Trebuchet MS"/>
                <a:cs typeface="Trebuchet MS"/>
              </a:rPr>
              <a:t>Operations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857694" y="3914602"/>
            <a:ext cx="2545715" cy="4889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50" b="1">
                <a:solidFill>
                  <a:srgbClr val="E4DBE6"/>
                </a:solidFill>
                <a:latin typeface="Trebuchet MS"/>
                <a:cs typeface="Trebuchet MS"/>
              </a:rPr>
              <a:t>Dashboard</a:t>
            </a:r>
            <a:r>
              <a:rPr dirty="0" sz="1150" spc="120" b="1">
                <a:solidFill>
                  <a:srgbClr val="E4DBE6"/>
                </a:solidFill>
                <a:latin typeface="Trebuchet MS"/>
                <a:cs typeface="Trebuchet MS"/>
              </a:rPr>
              <a:t> </a:t>
            </a:r>
            <a:r>
              <a:rPr dirty="0" sz="1150" spc="-10" b="1">
                <a:solidFill>
                  <a:srgbClr val="E4DBE6"/>
                </a:solidFill>
                <a:latin typeface="Trebuchet MS"/>
                <a:cs typeface="Trebuchet MS"/>
              </a:rPr>
              <a:t>Overview</a:t>
            </a:r>
            <a:endParaRPr sz="11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dirty="0" sz="850" spc="120">
                <a:solidFill>
                  <a:srgbClr val="E4DBE6"/>
                </a:solidFill>
                <a:latin typeface="Calibri"/>
                <a:cs typeface="Calibri"/>
              </a:rPr>
              <a:t>Comprehensive</a:t>
            </a:r>
            <a:r>
              <a:rPr dirty="0" sz="850" spc="105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850" spc="114">
                <a:solidFill>
                  <a:srgbClr val="E4DBE6"/>
                </a:solidFill>
                <a:latin typeface="Calibri"/>
                <a:cs typeface="Calibri"/>
              </a:rPr>
              <a:t>system</a:t>
            </a:r>
            <a:r>
              <a:rPr dirty="0" sz="850" spc="75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850" spc="90">
                <a:solidFill>
                  <a:srgbClr val="E4DBE6"/>
                </a:solidFill>
                <a:latin typeface="Calibri"/>
                <a:cs typeface="Calibri"/>
              </a:rPr>
              <a:t>analytics</a:t>
            </a:r>
            <a:r>
              <a:rPr dirty="0" sz="850" spc="55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850" spc="90">
                <a:solidFill>
                  <a:srgbClr val="E4DBE6"/>
                </a:solidFill>
                <a:latin typeface="Calibri"/>
                <a:cs typeface="Calibri"/>
              </a:rPr>
              <a:t>at</a:t>
            </a:r>
            <a:r>
              <a:rPr dirty="0" sz="850" spc="65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850" spc="110">
                <a:solidFill>
                  <a:srgbClr val="E4DBE6"/>
                </a:solidFill>
                <a:latin typeface="Calibri"/>
                <a:cs typeface="Calibri"/>
              </a:rPr>
              <a:t>a</a:t>
            </a:r>
            <a:r>
              <a:rPr dirty="0" sz="850" spc="55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850" spc="110">
                <a:solidFill>
                  <a:srgbClr val="E4DBE6"/>
                </a:solidFill>
                <a:latin typeface="Calibri"/>
                <a:cs typeface="Calibri"/>
              </a:rPr>
              <a:t>glance</a:t>
            </a:r>
            <a:endParaRPr sz="850">
              <a:latin typeface="Calibri"/>
              <a:cs typeface="Calibri"/>
            </a:endParaRPr>
          </a:p>
        </p:txBody>
      </p:sp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170932" y="3814572"/>
            <a:ext cx="589787" cy="2144267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5857694" y="4626340"/>
            <a:ext cx="2409190" cy="4889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50" b="1">
                <a:solidFill>
                  <a:srgbClr val="E4DBE6"/>
                </a:solidFill>
                <a:latin typeface="Trebuchet MS"/>
                <a:cs typeface="Trebuchet MS"/>
              </a:rPr>
              <a:t>Data</a:t>
            </a:r>
            <a:r>
              <a:rPr dirty="0" sz="1150" spc="-15" b="1">
                <a:solidFill>
                  <a:srgbClr val="E4DBE6"/>
                </a:solidFill>
                <a:latin typeface="Trebuchet MS"/>
                <a:cs typeface="Trebuchet MS"/>
              </a:rPr>
              <a:t> </a:t>
            </a:r>
            <a:r>
              <a:rPr dirty="0" sz="1150" spc="-10" b="1">
                <a:solidFill>
                  <a:srgbClr val="E4DBE6"/>
                </a:solidFill>
                <a:latin typeface="Trebuchet MS"/>
                <a:cs typeface="Trebuchet MS"/>
              </a:rPr>
              <a:t>Management</a:t>
            </a:r>
            <a:endParaRPr sz="11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dirty="0" sz="850" spc="100">
                <a:solidFill>
                  <a:srgbClr val="E4DBE6"/>
                </a:solidFill>
                <a:latin typeface="Calibri"/>
                <a:cs typeface="Calibri"/>
              </a:rPr>
              <a:t>User</a:t>
            </a:r>
            <a:r>
              <a:rPr dirty="0" sz="850" spc="70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850" spc="90">
                <a:solidFill>
                  <a:srgbClr val="E4DBE6"/>
                </a:solidFill>
                <a:latin typeface="Calibri"/>
                <a:cs typeface="Calibri"/>
              </a:rPr>
              <a:t>analytics</a:t>
            </a:r>
            <a:r>
              <a:rPr dirty="0" sz="850" spc="45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850" spc="130">
                <a:solidFill>
                  <a:srgbClr val="E4DBE6"/>
                </a:solidFill>
                <a:latin typeface="Calibri"/>
                <a:cs typeface="Calibri"/>
              </a:rPr>
              <a:t>and</a:t>
            </a:r>
            <a:r>
              <a:rPr dirty="0" sz="850" spc="70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850" spc="110">
                <a:solidFill>
                  <a:srgbClr val="E4DBE6"/>
                </a:solidFill>
                <a:latin typeface="Calibri"/>
                <a:cs typeface="Calibri"/>
              </a:rPr>
              <a:t>content</a:t>
            </a:r>
            <a:r>
              <a:rPr dirty="0" sz="850" spc="80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850" spc="90">
                <a:solidFill>
                  <a:srgbClr val="E4DBE6"/>
                </a:solidFill>
                <a:latin typeface="Calibri"/>
                <a:cs typeface="Calibri"/>
              </a:rPr>
              <a:t>administration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857694" y="5338079"/>
            <a:ext cx="1623060" cy="1993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50" b="1">
                <a:solidFill>
                  <a:srgbClr val="E4DBE6"/>
                </a:solidFill>
                <a:latin typeface="Trebuchet MS"/>
                <a:cs typeface="Trebuchet MS"/>
              </a:rPr>
              <a:t>Reporting</a:t>
            </a:r>
            <a:r>
              <a:rPr dirty="0" sz="1150" spc="-65" b="1">
                <a:solidFill>
                  <a:srgbClr val="E4DBE6"/>
                </a:solidFill>
                <a:latin typeface="Trebuchet MS"/>
                <a:cs typeface="Trebuchet MS"/>
              </a:rPr>
              <a:t> </a:t>
            </a:r>
            <a:r>
              <a:rPr dirty="0" sz="1150" b="1">
                <a:solidFill>
                  <a:srgbClr val="E4DBE6"/>
                </a:solidFill>
                <a:latin typeface="Trebuchet MS"/>
                <a:cs typeface="Trebuchet MS"/>
              </a:rPr>
              <a:t>&amp;</a:t>
            </a:r>
            <a:r>
              <a:rPr dirty="0" sz="1150" spc="10" b="1">
                <a:solidFill>
                  <a:srgbClr val="E4DBE6"/>
                </a:solidFill>
                <a:latin typeface="Trebuchet MS"/>
                <a:cs typeface="Trebuchet MS"/>
              </a:rPr>
              <a:t> </a:t>
            </a:r>
            <a:r>
              <a:rPr dirty="0" sz="1150" spc="-10" b="1">
                <a:solidFill>
                  <a:srgbClr val="E4DBE6"/>
                </a:solidFill>
                <a:latin typeface="Trebuchet MS"/>
                <a:cs typeface="Trebuchet MS"/>
              </a:rPr>
              <a:t>Monitoring</a:t>
            </a:r>
            <a:endParaRPr sz="115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857741" y="5667263"/>
            <a:ext cx="2811780" cy="1612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850" spc="105">
                <a:solidFill>
                  <a:srgbClr val="E4DBE6"/>
                </a:solidFill>
                <a:latin typeface="Calibri"/>
                <a:cs typeface="Calibri"/>
              </a:rPr>
              <a:t>Generate</a:t>
            </a:r>
            <a:r>
              <a:rPr dirty="0" sz="850" spc="65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850" spc="100">
                <a:solidFill>
                  <a:srgbClr val="E4DBE6"/>
                </a:solidFill>
                <a:latin typeface="Calibri"/>
                <a:cs typeface="Calibri"/>
              </a:rPr>
              <a:t>insights</a:t>
            </a:r>
            <a:r>
              <a:rPr dirty="0" sz="850" spc="70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850" spc="135">
                <a:solidFill>
                  <a:srgbClr val="E4DBE6"/>
                </a:solidFill>
                <a:latin typeface="Calibri"/>
                <a:cs typeface="Calibri"/>
              </a:rPr>
              <a:t>and</a:t>
            </a:r>
            <a:r>
              <a:rPr dirty="0" sz="850" spc="70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850" spc="100">
                <a:solidFill>
                  <a:srgbClr val="E4DBE6"/>
                </a:solidFill>
                <a:latin typeface="Calibri"/>
                <a:cs typeface="Calibri"/>
              </a:rPr>
              <a:t>track</a:t>
            </a:r>
            <a:r>
              <a:rPr dirty="0" sz="850" spc="60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850" spc="114">
                <a:solidFill>
                  <a:srgbClr val="E4DBE6"/>
                </a:solidFill>
                <a:latin typeface="Calibri"/>
                <a:cs typeface="Calibri"/>
              </a:rPr>
              <a:t>system</a:t>
            </a:r>
            <a:r>
              <a:rPr dirty="0" sz="850" spc="90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850" spc="105">
                <a:solidFill>
                  <a:srgbClr val="E4DBE6"/>
                </a:solidFill>
                <a:latin typeface="Calibri"/>
                <a:cs typeface="Calibri"/>
              </a:rPr>
              <a:t>performance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92729" y="6228098"/>
            <a:ext cx="7470775" cy="1612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850" spc="100" b="1">
                <a:solidFill>
                  <a:srgbClr val="E4DBE6"/>
                </a:solidFill>
                <a:latin typeface="Calibri"/>
                <a:cs typeface="Calibri"/>
              </a:rPr>
              <a:t>Integration:</a:t>
            </a:r>
            <a:r>
              <a:rPr dirty="0" sz="850" spc="114" b="1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850" spc="100">
                <a:solidFill>
                  <a:srgbClr val="E4DBE6"/>
                </a:solidFill>
                <a:latin typeface="Calibri"/>
                <a:cs typeface="Calibri"/>
              </a:rPr>
              <a:t>Real-</a:t>
            </a:r>
            <a:r>
              <a:rPr dirty="0" sz="850" spc="114">
                <a:solidFill>
                  <a:srgbClr val="E4DBE6"/>
                </a:solidFill>
                <a:latin typeface="Calibri"/>
                <a:cs typeface="Calibri"/>
              </a:rPr>
              <a:t>time</a:t>
            </a:r>
            <a:r>
              <a:rPr dirty="0" sz="850" spc="75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850" spc="110">
                <a:solidFill>
                  <a:srgbClr val="E4DBE6"/>
                </a:solidFill>
                <a:latin typeface="Calibri"/>
                <a:cs typeface="Calibri"/>
              </a:rPr>
              <a:t>data</a:t>
            </a:r>
            <a:r>
              <a:rPr dirty="0" sz="850" spc="70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850" spc="95">
                <a:solidFill>
                  <a:srgbClr val="E4DBE6"/>
                </a:solidFill>
                <a:latin typeface="Calibri"/>
                <a:cs typeface="Calibri"/>
              </a:rPr>
              <a:t>synchronisation</a:t>
            </a:r>
            <a:r>
              <a:rPr dirty="0" sz="850" spc="114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850" spc="105">
                <a:solidFill>
                  <a:srgbClr val="E4DBE6"/>
                </a:solidFill>
                <a:latin typeface="Calibri"/>
                <a:cs typeface="Calibri"/>
              </a:rPr>
              <a:t>ensures</a:t>
            </a:r>
            <a:r>
              <a:rPr dirty="0" sz="850" spc="85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850" spc="110">
                <a:solidFill>
                  <a:srgbClr val="E4DBE6"/>
                </a:solidFill>
                <a:latin typeface="Calibri"/>
                <a:cs typeface="Calibri"/>
              </a:rPr>
              <a:t>seamless</a:t>
            </a:r>
            <a:r>
              <a:rPr dirty="0" sz="850" spc="80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850" spc="95">
                <a:solidFill>
                  <a:srgbClr val="E4DBE6"/>
                </a:solidFill>
                <a:latin typeface="Calibri"/>
                <a:cs typeface="Calibri"/>
              </a:rPr>
              <a:t>coordination</a:t>
            </a:r>
            <a:r>
              <a:rPr dirty="0" sz="850" spc="114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850" spc="120">
                <a:solidFill>
                  <a:srgbClr val="E4DBE6"/>
                </a:solidFill>
                <a:latin typeface="Calibri"/>
                <a:cs typeface="Calibri"/>
              </a:rPr>
              <a:t>between</a:t>
            </a:r>
            <a:r>
              <a:rPr dirty="0" sz="850" spc="85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850" spc="100">
                <a:solidFill>
                  <a:srgbClr val="E4DBE6"/>
                </a:solidFill>
                <a:latin typeface="Calibri"/>
                <a:cs typeface="Calibri"/>
              </a:rPr>
              <a:t>user</a:t>
            </a:r>
            <a:r>
              <a:rPr dirty="0" sz="850" spc="85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850" spc="90">
                <a:solidFill>
                  <a:srgbClr val="E4DBE6"/>
                </a:solidFill>
                <a:latin typeface="Calibri"/>
                <a:cs typeface="Calibri"/>
              </a:rPr>
              <a:t>interactions</a:t>
            </a:r>
            <a:r>
              <a:rPr dirty="0" sz="850" spc="85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850" spc="135">
                <a:solidFill>
                  <a:srgbClr val="E4DBE6"/>
                </a:solidFill>
                <a:latin typeface="Calibri"/>
                <a:cs typeface="Calibri"/>
              </a:rPr>
              <a:t>and</a:t>
            </a:r>
            <a:r>
              <a:rPr dirty="0" sz="850" spc="80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850" spc="95">
                <a:solidFill>
                  <a:srgbClr val="E4DBE6"/>
                </a:solidFill>
                <a:latin typeface="Calibri"/>
                <a:cs typeface="Calibri"/>
              </a:rPr>
              <a:t>administrative</a:t>
            </a:r>
            <a:r>
              <a:rPr dirty="0" sz="850" spc="90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850" spc="80">
                <a:solidFill>
                  <a:srgbClr val="E4DBE6"/>
                </a:solidFill>
                <a:latin typeface="Calibri"/>
                <a:cs typeface="Calibri"/>
              </a:rPr>
              <a:t>analytics</a:t>
            </a:r>
            <a:endParaRPr sz="850">
              <a:latin typeface="Calibri"/>
              <a:cs typeface="Calibri"/>
            </a:endParaRPr>
          </a:p>
        </p:txBody>
      </p:sp>
      <p:pic>
        <p:nvPicPr>
          <p:cNvPr id="18" name="object 1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854440" y="6377939"/>
            <a:ext cx="1129283" cy="28803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29828" y="6300216"/>
            <a:ext cx="1487805" cy="373380"/>
            <a:chOff x="8529828" y="6300216"/>
            <a:chExt cx="1487805" cy="3733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20912" y="6377939"/>
              <a:ext cx="1196339" cy="29565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29828" y="6300216"/>
              <a:ext cx="1470659" cy="368807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534476" y="1884542"/>
            <a:ext cx="5772150" cy="492125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050"/>
              <a:t>Cutting-</a:t>
            </a:r>
            <a:r>
              <a:rPr dirty="0" sz="3050" spc="80"/>
              <a:t>Edge</a:t>
            </a:r>
            <a:r>
              <a:rPr dirty="0" sz="3050" spc="30"/>
              <a:t> </a:t>
            </a:r>
            <a:r>
              <a:rPr dirty="0" sz="3050"/>
              <a:t>Technology</a:t>
            </a:r>
            <a:r>
              <a:rPr dirty="0" sz="3050" spc="85"/>
              <a:t> </a:t>
            </a:r>
            <a:r>
              <a:rPr dirty="0" sz="3050" spc="75"/>
              <a:t>Stack</a:t>
            </a:r>
            <a:endParaRPr sz="3050"/>
          </a:p>
        </p:txBody>
      </p:sp>
      <p:sp>
        <p:nvSpPr>
          <p:cNvPr id="6" name="object 6"/>
          <p:cNvSpPr txBox="1"/>
          <p:nvPr/>
        </p:nvSpPr>
        <p:spPr>
          <a:xfrm>
            <a:off x="621283" y="2754941"/>
            <a:ext cx="2621915" cy="1353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528955">
              <a:lnSpc>
                <a:spcPct val="100000"/>
              </a:lnSpc>
              <a:spcBef>
                <a:spcPts val="110"/>
              </a:spcBef>
            </a:pPr>
            <a:r>
              <a:rPr dirty="0" sz="1500" b="1">
                <a:solidFill>
                  <a:srgbClr val="E4DBE6"/>
                </a:solidFill>
                <a:latin typeface="Trebuchet MS"/>
                <a:cs typeface="Trebuchet MS"/>
              </a:rPr>
              <a:t>Frontend</a:t>
            </a:r>
            <a:r>
              <a:rPr dirty="0" sz="1500" spc="-95" b="1">
                <a:solidFill>
                  <a:srgbClr val="E4DBE6"/>
                </a:solidFill>
                <a:latin typeface="Trebuchet MS"/>
                <a:cs typeface="Trebuchet MS"/>
              </a:rPr>
              <a:t> </a:t>
            </a:r>
            <a:r>
              <a:rPr dirty="0" sz="1500" spc="-10" b="1">
                <a:solidFill>
                  <a:srgbClr val="E4DBE6"/>
                </a:solidFill>
                <a:latin typeface="Trebuchet MS"/>
                <a:cs typeface="Trebuchet MS"/>
              </a:rPr>
              <a:t>Technologies</a:t>
            </a:r>
            <a:endParaRPr sz="1500">
              <a:latin typeface="Trebuchet MS"/>
              <a:cs typeface="Trebuchet MS"/>
            </a:endParaRPr>
          </a:p>
          <a:p>
            <a:pPr algn="r" marL="38100" marR="5080" indent="-26034">
              <a:lnSpc>
                <a:spcPct val="138300"/>
              </a:lnSpc>
              <a:spcBef>
                <a:spcPts val="660"/>
              </a:spcBef>
            </a:pPr>
            <a:r>
              <a:rPr dirty="0" sz="1200" spc="125">
                <a:solidFill>
                  <a:srgbClr val="E4DBE6"/>
                </a:solidFill>
                <a:latin typeface="Calibri"/>
                <a:cs typeface="Calibri"/>
              </a:rPr>
              <a:t>Bootstrap</a:t>
            </a:r>
            <a:r>
              <a:rPr dirty="0" sz="1200" spc="70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200" spc="60">
                <a:solidFill>
                  <a:srgbClr val="E4DBE6"/>
                </a:solidFill>
                <a:latin typeface="Calibri"/>
                <a:cs typeface="Calibri"/>
              </a:rPr>
              <a:t>5</a:t>
            </a:r>
            <a:r>
              <a:rPr dirty="0" sz="1200" spc="50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200" spc="70">
                <a:solidFill>
                  <a:srgbClr val="E4DBE6"/>
                </a:solidFill>
                <a:latin typeface="Calibri"/>
                <a:cs typeface="Calibri"/>
              </a:rPr>
              <a:t>for</a:t>
            </a:r>
            <a:r>
              <a:rPr dirty="0" sz="1200" spc="60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200" spc="114">
                <a:solidFill>
                  <a:srgbClr val="E4DBE6"/>
                </a:solidFill>
                <a:latin typeface="Calibri"/>
                <a:cs typeface="Calibri"/>
              </a:rPr>
              <a:t>responsive</a:t>
            </a:r>
            <a:r>
              <a:rPr dirty="0" sz="1200" spc="75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200" spc="110">
                <a:solidFill>
                  <a:srgbClr val="E4DBE6"/>
                </a:solidFill>
                <a:latin typeface="Calibri"/>
                <a:cs typeface="Calibri"/>
              </a:rPr>
              <a:t>design, </a:t>
            </a:r>
            <a:r>
              <a:rPr dirty="0" sz="1200" spc="95">
                <a:solidFill>
                  <a:srgbClr val="E4DBE6"/>
                </a:solidFill>
                <a:latin typeface="Calibri"/>
                <a:cs typeface="Calibri"/>
              </a:rPr>
              <a:t>Chart.js</a:t>
            </a:r>
            <a:r>
              <a:rPr dirty="0" sz="1200" spc="80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200" spc="70">
                <a:solidFill>
                  <a:srgbClr val="E4DBE6"/>
                </a:solidFill>
                <a:latin typeface="Calibri"/>
                <a:cs typeface="Calibri"/>
              </a:rPr>
              <a:t>for</a:t>
            </a:r>
            <a:r>
              <a:rPr dirty="0" sz="1200" spc="65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200" spc="130">
                <a:solidFill>
                  <a:srgbClr val="E4DBE6"/>
                </a:solidFill>
                <a:latin typeface="Calibri"/>
                <a:cs typeface="Calibri"/>
              </a:rPr>
              <a:t>data</a:t>
            </a:r>
            <a:r>
              <a:rPr dirty="0" sz="1200" spc="70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200" spc="90">
                <a:solidFill>
                  <a:srgbClr val="E4DBE6"/>
                </a:solidFill>
                <a:latin typeface="Calibri"/>
                <a:cs typeface="Calibri"/>
              </a:rPr>
              <a:t>visualisation,</a:t>
            </a:r>
            <a:r>
              <a:rPr dirty="0" sz="1200" spc="100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200" spc="140">
                <a:solidFill>
                  <a:srgbClr val="E4DBE6"/>
                </a:solidFill>
                <a:latin typeface="Calibri"/>
                <a:cs typeface="Calibri"/>
              </a:rPr>
              <a:t>and </a:t>
            </a:r>
            <a:r>
              <a:rPr dirty="0" sz="1200" spc="130">
                <a:solidFill>
                  <a:srgbClr val="E4DBE6"/>
                </a:solidFill>
                <a:latin typeface="Calibri"/>
                <a:cs typeface="Calibri"/>
              </a:rPr>
              <a:t>JavaScript</a:t>
            </a:r>
            <a:r>
              <a:rPr dirty="0" sz="1200" spc="90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200" spc="70">
                <a:solidFill>
                  <a:srgbClr val="E4DBE6"/>
                </a:solidFill>
                <a:latin typeface="Calibri"/>
                <a:cs typeface="Calibri"/>
              </a:rPr>
              <a:t>for</a:t>
            </a:r>
            <a:r>
              <a:rPr dirty="0" sz="1200" spc="40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200" spc="90">
                <a:solidFill>
                  <a:srgbClr val="E4DBE6"/>
                </a:solidFill>
                <a:latin typeface="Calibri"/>
                <a:cs typeface="Calibri"/>
              </a:rPr>
              <a:t>interactive</a:t>
            </a:r>
            <a:endParaRPr sz="1200">
              <a:latin typeface="Calibri"/>
              <a:cs typeface="Calibri"/>
            </a:endParaRPr>
          </a:p>
          <a:p>
            <a:pPr algn="r" marR="5715">
              <a:lnSpc>
                <a:spcPct val="100000"/>
              </a:lnSpc>
              <a:spcBef>
                <a:spcPts val="565"/>
              </a:spcBef>
            </a:pPr>
            <a:r>
              <a:rPr dirty="0" sz="1200" spc="110">
                <a:solidFill>
                  <a:srgbClr val="E4DBE6"/>
                </a:solidFill>
                <a:latin typeface="Calibri"/>
                <a:cs typeface="Calibri"/>
              </a:rPr>
              <a:t>experiences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820858" y="2754941"/>
            <a:ext cx="2444115" cy="1353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500" b="1">
                <a:solidFill>
                  <a:srgbClr val="E4DBE6"/>
                </a:solidFill>
                <a:latin typeface="Trebuchet MS"/>
                <a:cs typeface="Trebuchet MS"/>
              </a:rPr>
              <a:t>Backend</a:t>
            </a:r>
            <a:r>
              <a:rPr dirty="0" sz="1500" spc="155" b="1">
                <a:solidFill>
                  <a:srgbClr val="E4DBE6"/>
                </a:solidFill>
                <a:latin typeface="Trebuchet MS"/>
                <a:cs typeface="Trebuchet MS"/>
              </a:rPr>
              <a:t> </a:t>
            </a:r>
            <a:r>
              <a:rPr dirty="0" sz="1500" spc="-10" b="1">
                <a:solidFill>
                  <a:srgbClr val="E4DBE6"/>
                </a:solidFill>
                <a:latin typeface="Trebuchet MS"/>
                <a:cs typeface="Trebuchet MS"/>
              </a:rPr>
              <a:t>Framework</a:t>
            </a:r>
            <a:endParaRPr sz="1500">
              <a:latin typeface="Trebuchet MS"/>
              <a:cs typeface="Trebuchet MS"/>
            </a:endParaRPr>
          </a:p>
          <a:p>
            <a:pPr marL="12700" marR="5080">
              <a:lnSpc>
                <a:spcPct val="138600"/>
              </a:lnSpc>
              <a:spcBef>
                <a:spcPts val="655"/>
              </a:spcBef>
            </a:pPr>
            <a:r>
              <a:rPr dirty="0" sz="1200" spc="130">
                <a:solidFill>
                  <a:srgbClr val="E4DBE6"/>
                </a:solidFill>
                <a:latin typeface="Calibri"/>
                <a:cs typeface="Calibri"/>
              </a:rPr>
              <a:t>Flask</a:t>
            </a:r>
            <a:r>
              <a:rPr dirty="0" sz="1200" spc="85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200" spc="130">
                <a:solidFill>
                  <a:srgbClr val="E4DBE6"/>
                </a:solidFill>
                <a:latin typeface="Calibri"/>
                <a:cs typeface="Calibri"/>
              </a:rPr>
              <a:t>microframework </a:t>
            </a:r>
            <a:r>
              <a:rPr dirty="0" sz="1200" spc="105">
                <a:solidFill>
                  <a:srgbClr val="E4DBE6"/>
                </a:solidFill>
                <a:latin typeface="Calibri"/>
                <a:cs typeface="Calibri"/>
              </a:rPr>
              <a:t>with </a:t>
            </a:r>
            <a:r>
              <a:rPr dirty="0" sz="1200" spc="120">
                <a:solidFill>
                  <a:srgbClr val="E4DBE6"/>
                </a:solidFill>
                <a:latin typeface="Calibri"/>
                <a:cs typeface="Calibri"/>
              </a:rPr>
              <a:t>Python,</a:t>
            </a:r>
            <a:r>
              <a:rPr dirty="0" sz="1200" spc="70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200" spc="165">
                <a:solidFill>
                  <a:srgbClr val="E4DBE6"/>
                </a:solidFill>
                <a:latin typeface="Calibri"/>
                <a:cs typeface="Calibri"/>
              </a:rPr>
              <a:t>SQLAlchemy</a:t>
            </a:r>
            <a:r>
              <a:rPr dirty="0" sz="1200" spc="80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200" spc="114">
                <a:solidFill>
                  <a:srgbClr val="E4DBE6"/>
                </a:solidFill>
                <a:latin typeface="Calibri"/>
                <a:cs typeface="Calibri"/>
              </a:rPr>
              <a:t>ORM,</a:t>
            </a:r>
            <a:r>
              <a:rPr dirty="0" sz="1200" spc="60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200" spc="140">
                <a:solidFill>
                  <a:srgbClr val="E4DBE6"/>
                </a:solidFill>
                <a:latin typeface="Calibri"/>
                <a:cs typeface="Calibri"/>
              </a:rPr>
              <a:t>and </a:t>
            </a:r>
            <a:r>
              <a:rPr dirty="0" sz="1200" spc="135">
                <a:solidFill>
                  <a:srgbClr val="E4DBE6"/>
                </a:solidFill>
                <a:latin typeface="Calibri"/>
                <a:cs typeface="Calibri"/>
              </a:rPr>
              <a:t>SQLite</a:t>
            </a:r>
            <a:r>
              <a:rPr dirty="0" sz="1200" spc="70">
                <a:solidFill>
                  <a:srgbClr val="E4DBE6"/>
                </a:solidFill>
                <a:latin typeface="Calibri"/>
                <a:cs typeface="Calibri"/>
              </a:rPr>
              <a:t> for</a:t>
            </a:r>
            <a:r>
              <a:rPr dirty="0" sz="1200" spc="65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200" spc="90">
                <a:solidFill>
                  <a:srgbClr val="E4DBE6"/>
                </a:solidFill>
                <a:latin typeface="Calibri"/>
                <a:cs typeface="Calibri"/>
              </a:rPr>
              <a:t>efficient</a:t>
            </a:r>
            <a:r>
              <a:rPr dirty="0" sz="1200" spc="110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200" spc="90">
                <a:solidFill>
                  <a:srgbClr val="E4DBE6"/>
                </a:solidFill>
                <a:latin typeface="Calibri"/>
                <a:cs typeface="Calibri"/>
              </a:rPr>
              <a:t>server-</a:t>
            </a:r>
            <a:r>
              <a:rPr dirty="0" sz="1200" spc="95">
                <a:solidFill>
                  <a:srgbClr val="E4DBE6"/>
                </a:solidFill>
                <a:latin typeface="Calibri"/>
                <a:cs typeface="Calibri"/>
              </a:rPr>
              <a:t>side </a:t>
            </a:r>
            <a:r>
              <a:rPr dirty="0" sz="1200" spc="100">
                <a:solidFill>
                  <a:srgbClr val="E4DBE6"/>
                </a:solidFill>
                <a:latin typeface="Calibri"/>
                <a:cs typeface="Calibri"/>
              </a:rPr>
              <a:t>operations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454908" y="2712720"/>
            <a:ext cx="3150108" cy="3150108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6820858" y="4565344"/>
            <a:ext cx="2500630" cy="109855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10"/>
              </a:spcBef>
            </a:pPr>
            <a:r>
              <a:rPr dirty="0" sz="1500" b="1">
                <a:solidFill>
                  <a:srgbClr val="E4DBE6"/>
                </a:solidFill>
                <a:latin typeface="Trebuchet MS"/>
                <a:cs typeface="Trebuchet MS"/>
              </a:rPr>
              <a:t>AI/ML</a:t>
            </a:r>
            <a:r>
              <a:rPr dirty="0" sz="1500" spc="70" b="1">
                <a:solidFill>
                  <a:srgbClr val="E4DBE6"/>
                </a:solidFill>
                <a:latin typeface="Trebuchet MS"/>
                <a:cs typeface="Trebuchet MS"/>
              </a:rPr>
              <a:t> </a:t>
            </a:r>
            <a:r>
              <a:rPr dirty="0" sz="1500" spc="-10" b="1">
                <a:solidFill>
                  <a:srgbClr val="E4DBE6"/>
                </a:solidFill>
                <a:latin typeface="Trebuchet MS"/>
                <a:cs typeface="Trebuchet MS"/>
              </a:rPr>
              <a:t>Components</a:t>
            </a:r>
            <a:endParaRPr sz="1500">
              <a:latin typeface="Trebuchet MS"/>
              <a:cs typeface="Trebuchet MS"/>
            </a:endParaRPr>
          </a:p>
          <a:p>
            <a:pPr algn="just" marL="12700" marR="5080">
              <a:lnSpc>
                <a:spcPct val="138300"/>
              </a:lnSpc>
              <a:spcBef>
                <a:spcPts val="660"/>
              </a:spcBef>
            </a:pPr>
            <a:r>
              <a:rPr dirty="0" sz="1200" spc="200">
                <a:solidFill>
                  <a:srgbClr val="E4DBE6"/>
                </a:solidFill>
                <a:latin typeface="Calibri"/>
                <a:cs typeface="Calibri"/>
              </a:rPr>
              <a:t>Hugging</a:t>
            </a:r>
            <a:r>
              <a:rPr dirty="0" sz="1200" spc="70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200" spc="150">
                <a:solidFill>
                  <a:srgbClr val="E4DBE6"/>
                </a:solidFill>
                <a:latin typeface="Calibri"/>
                <a:cs typeface="Calibri"/>
              </a:rPr>
              <a:t>Face</a:t>
            </a:r>
            <a:r>
              <a:rPr dirty="0" sz="1200" spc="75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200" spc="114">
                <a:solidFill>
                  <a:srgbClr val="E4DBE6"/>
                </a:solidFill>
                <a:latin typeface="Calibri"/>
                <a:cs typeface="Calibri"/>
              </a:rPr>
              <a:t>Transformers</a:t>
            </a:r>
            <a:r>
              <a:rPr dirty="0" sz="1200" spc="80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200" spc="45">
                <a:solidFill>
                  <a:srgbClr val="E4DBE6"/>
                </a:solidFill>
                <a:latin typeface="Calibri"/>
                <a:cs typeface="Calibri"/>
              </a:rPr>
              <a:t>for </a:t>
            </a:r>
            <a:r>
              <a:rPr dirty="0" sz="1200" spc="140">
                <a:solidFill>
                  <a:srgbClr val="E4DBE6"/>
                </a:solidFill>
                <a:latin typeface="Calibri"/>
                <a:cs typeface="Calibri"/>
              </a:rPr>
              <a:t>NLP,</a:t>
            </a:r>
            <a:r>
              <a:rPr dirty="0" sz="1200" spc="65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200" spc="135">
                <a:solidFill>
                  <a:srgbClr val="E4DBE6"/>
                </a:solidFill>
                <a:latin typeface="Calibri"/>
                <a:cs typeface="Calibri"/>
              </a:rPr>
              <a:t>PyTorch</a:t>
            </a:r>
            <a:r>
              <a:rPr dirty="0" sz="1200" spc="90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200" spc="70">
                <a:solidFill>
                  <a:srgbClr val="E4DBE6"/>
                </a:solidFill>
                <a:latin typeface="Calibri"/>
                <a:cs typeface="Calibri"/>
              </a:rPr>
              <a:t>for</a:t>
            </a:r>
            <a:r>
              <a:rPr dirty="0" sz="1200" spc="45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200" spc="150">
                <a:solidFill>
                  <a:srgbClr val="E4DBE6"/>
                </a:solidFill>
                <a:latin typeface="Calibri"/>
                <a:cs typeface="Calibri"/>
              </a:rPr>
              <a:t>deep</a:t>
            </a:r>
            <a:r>
              <a:rPr dirty="0" sz="1200" spc="85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200" spc="95">
                <a:solidFill>
                  <a:srgbClr val="E4DBE6"/>
                </a:solidFill>
                <a:latin typeface="Calibri"/>
                <a:cs typeface="Calibri"/>
              </a:rPr>
              <a:t>learning, </a:t>
            </a:r>
            <a:r>
              <a:rPr dirty="0" sz="1200" spc="165">
                <a:solidFill>
                  <a:srgbClr val="E4DBE6"/>
                </a:solidFill>
                <a:latin typeface="Calibri"/>
                <a:cs typeface="Calibri"/>
              </a:rPr>
              <a:t>and</a:t>
            </a:r>
            <a:r>
              <a:rPr dirty="0" sz="1200" spc="75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200" spc="145">
                <a:solidFill>
                  <a:srgbClr val="E4DBE6"/>
                </a:solidFill>
                <a:latin typeface="Calibri"/>
                <a:cs typeface="Calibri"/>
              </a:rPr>
              <a:t>advanced</a:t>
            </a:r>
            <a:r>
              <a:rPr dirty="0" sz="1200" spc="114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200" spc="160">
                <a:solidFill>
                  <a:srgbClr val="E4DBE6"/>
                </a:solidFill>
                <a:latin typeface="Calibri"/>
                <a:cs typeface="Calibri"/>
              </a:rPr>
              <a:t>language</a:t>
            </a:r>
            <a:r>
              <a:rPr dirty="0" sz="1200" spc="90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200" spc="135">
                <a:solidFill>
                  <a:srgbClr val="E4DBE6"/>
                </a:solidFill>
                <a:latin typeface="Calibri"/>
                <a:cs typeface="Calibri"/>
              </a:rPr>
              <a:t>models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37691" y="4440336"/>
            <a:ext cx="2405380" cy="135445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285115">
              <a:lnSpc>
                <a:spcPct val="100000"/>
              </a:lnSpc>
              <a:spcBef>
                <a:spcPts val="110"/>
              </a:spcBef>
            </a:pPr>
            <a:r>
              <a:rPr dirty="0" sz="1500" b="1">
                <a:solidFill>
                  <a:srgbClr val="E4DBE6"/>
                </a:solidFill>
                <a:latin typeface="Trebuchet MS"/>
                <a:cs typeface="Trebuchet MS"/>
              </a:rPr>
              <a:t>Security</a:t>
            </a:r>
            <a:r>
              <a:rPr dirty="0" sz="1500" spc="-15" b="1">
                <a:solidFill>
                  <a:srgbClr val="E4DBE6"/>
                </a:solidFill>
                <a:latin typeface="Trebuchet MS"/>
                <a:cs typeface="Trebuchet MS"/>
              </a:rPr>
              <a:t> </a:t>
            </a:r>
            <a:r>
              <a:rPr dirty="0" sz="1500" spc="70" b="1">
                <a:solidFill>
                  <a:srgbClr val="E4DBE6"/>
                </a:solidFill>
                <a:latin typeface="Trebuchet MS"/>
                <a:cs typeface="Trebuchet MS"/>
              </a:rPr>
              <a:t>&amp;</a:t>
            </a:r>
            <a:r>
              <a:rPr dirty="0" sz="1500" spc="30" b="1">
                <a:solidFill>
                  <a:srgbClr val="E4DBE6"/>
                </a:solidFill>
                <a:latin typeface="Trebuchet MS"/>
                <a:cs typeface="Trebuchet MS"/>
              </a:rPr>
              <a:t> </a:t>
            </a:r>
            <a:r>
              <a:rPr dirty="0" sz="1500" spc="-10" b="1">
                <a:solidFill>
                  <a:srgbClr val="E4DBE6"/>
                </a:solidFill>
                <a:latin typeface="Trebuchet MS"/>
                <a:cs typeface="Trebuchet MS"/>
              </a:rPr>
              <a:t>Deployment</a:t>
            </a:r>
            <a:endParaRPr sz="1500">
              <a:latin typeface="Trebuchet MS"/>
              <a:cs typeface="Trebuchet MS"/>
            </a:endParaRPr>
          </a:p>
          <a:p>
            <a:pPr algn="r" marL="242570" marR="5080" indent="-230504">
              <a:lnSpc>
                <a:spcPct val="138600"/>
              </a:lnSpc>
              <a:spcBef>
                <a:spcPts val="670"/>
              </a:spcBef>
            </a:pPr>
            <a:r>
              <a:rPr dirty="0" sz="1200" spc="185">
                <a:solidFill>
                  <a:srgbClr val="E4DBE6"/>
                </a:solidFill>
                <a:latin typeface="Calibri"/>
                <a:cs typeface="Calibri"/>
              </a:rPr>
              <a:t>JWT</a:t>
            </a:r>
            <a:r>
              <a:rPr dirty="0" sz="1200" spc="65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200" spc="110">
                <a:solidFill>
                  <a:srgbClr val="E4DBE6"/>
                </a:solidFill>
                <a:latin typeface="Calibri"/>
                <a:cs typeface="Calibri"/>
              </a:rPr>
              <a:t>authentication, </a:t>
            </a:r>
            <a:r>
              <a:rPr dirty="0" sz="1200" spc="150">
                <a:solidFill>
                  <a:srgbClr val="E4DBE6"/>
                </a:solidFill>
                <a:latin typeface="Calibri"/>
                <a:cs typeface="Calibri"/>
              </a:rPr>
              <a:t>Werkzeug </a:t>
            </a:r>
            <a:r>
              <a:rPr dirty="0" sz="1200" spc="70">
                <a:solidFill>
                  <a:srgbClr val="E4DBE6"/>
                </a:solidFill>
                <a:latin typeface="Calibri"/>
                <a:cs typeface="Calibri"/>
              </a:rPr>
              <a:t>utilities,</a:t>
            </a:r>
            <a:r>
              <a:rPr dirty="0" sz="1200" spc="90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200" spc="120">
                <a:solidFill>
                  <a:srgbClr val="E4DBE6"/>
                </a:solidFill>
                <a:latin typeface="Calibri"/>
                <a:cs typeface="Calibri"/>
              </a:rPr>
              <a:t>Flask-</a:t>
            </a:r>
            <a:r>
              <a:rPr dirty="0" sz="1200" spc="125">
                <a:solidFill>
                  <a:srgbClr val="E4DBE6"/>
                </a:solidFill>
                <a:latin typeface="Calibri"/>
                <a:cs typeface="Calibri"/>
              </a:rPr>
              <a:t>Login,</a:t>
            </a:r>
            <a:r>
              <a:rPr dirty="0" sz="1200" spc="90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200" spc="130">
                <a:solidFill>
                  <a:srgbClr val="E4DBE6"/>
                </a:solidFill>
                <a:latin typeface="Calibri"/>
                <a:cs typeface="Calibri"/>
              </a:rPr>
              <a:t>Docker </a:t>
            </a:r>
            <a:r>
              <a:rPr dirty="0" sz="1200" spc="100">
                <a:solidFill>
                  <a:srgbClr val="E4DBE6"/>
                </a:solidFill>
                <a:latin typeface="Calibri"/>
                <a:cs typeface="Calibri"/>
              </a:rPr>
              <a:t>containerisation,</a:t>
            </a:r>
            <a:r>
              <a:rPr dirty="0" sz="1200" spc="114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200" spc="165">
                <a:solidFill>
                  <a:srgbClr val="E4DBE6"/>
                </a:solidFill>
                <a:latin typeface="Calibri"/>
                <a:cs typeface="Calibri"/>
              </a:rPr>
              <a:t>and</a:t>
            </a:r>
            <a:r>
              <a:rPr dirty="0" sz="1200" spc="75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200" spc="114">
                <a:solidFill>
                  <a:srgbClr val="E4DBE6"/>
                </a:solidFill>
                <a:latin typeface="Calibri"/>
                <a:cs typeface="Calibri"/>
              </a:rPr>
              <a:t>cloud </a:t>
            </a:r>
            <a:r>
              <a:rPr dirty="0" sz="1200" spc="120">
                <a:solidFill>
                  <a:srgbClr val="E4DBE6"/>
                </a:solidFill>
                <a:latin typeface="Calibri"/>
                <a:cs typeface="Calibri"/>
              </a:rPr>
              <a:t>platform</a:t>
            </a:r>
            <a:r>
              <a:rPr dirty="0" sz="1200" spc="75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200" spc="105">
                <a:solidFill>
                  <a:srgbClr val="E4DBE6"/>
                </a:solidFill>
                <a:latin typeface="Calibri"/>
                <a:cs typeface="Calibri"/>
              </a:rPr>
              <a:t>compatibility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20911" y="6377939"/>
            <a:ext cx="1196339" cy="29565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3214" rIns="0" bIns="0" rtlCol="0" vert="horz">
            <a:spAutoFit/>
          </a:bodyPr>
          <a:lstStyle/>
          <a:p>
            <a:pPr marL="199390">
              <a:lnSpc>
                <a:spcPct val="100000"/>
              </a:lnSpc>
              <a:spcBef>
                <a:spcPts val="114"/>
              </a:spcBef>
            </a:pPr>
            <a:r>
              <a:rPr dirty="0"/>
              <a:t>Transforming</a:t>
            </a:r>
            <a:r>
              <a:rPr dirty="0" spc="65"/>
              <a:t> </a:t>
            </a:r>
            <a:r>
              <a:rPr dirty="0"/>
              <a:t>Healthcare</a:t>
            </a:r>
            <a:r>
              <a:rPr dirty="0" spc="100"/>
              <a:t> </a:t>
            </a:r>
            <a:r>
              <a:rPr dirty="0" spc="-10"/>
              <a:t>Delivery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6636" y="2221992"/>
            <a:ext cx="1237487" cy="123901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08508" y="3622040"/>
            <a:ext cx="2022475" cy="1268095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400" b="1">
                <a:solidFill>
                  <a:srgbClr val="E4DBE6"/>
                </a:solidFill>
                <a:latin typeface="Trebuchet MS"/>
                <a:cs typeface="Trebuchet MS"/>
              </a:rPr>
              <a:t>Hospital</a:t>
            </a:r>
            <a:r>
              <a:rPr dirty="0" sz="1400" spc="195" b="1">
                <a:solidFill>
                  <a:srgbClr val="E4DBE6"/>
                </a:solidFill>
                <a:latin typeface="Trebuchet MS"/>
                <a:cs typeface="Trebuchet MS"/>
              </a:rPr>
              <a:t> </a:t>
            </a:r>
            <a:r>
              <a:rPr dirty="0" sz="1400" spc="-10" b="1">
                <a:solidFill>
                  <a:srgbClr val="E4DBE6"/>
                </a:solidFill>
                <a:latin typeface="Trebuchet MS"/>
                <a:cs typeface="Trebuchet MS"/>
              </a:rPr>
              <a:t>Integration</a:t>
            </a:r>
            <a:endParaRPr sz="1400">
              <a:latin typeface="Trebuchet MS"/>
              <a:cs typeface="Trebuchet MS"/>
            </a:endParaRPr>
          </a:p>
          <a:p>
            <a:pPr marL="12700" marR="5080">
              <a:lnSpc>
                <a:spcPct val="134800"/>
              </a:lnSpc>
              <a:spcBef>
                <a:spcPts val="620"/>
              </a:spcBef>
            </a:pPr>
            <a:r>
              <a:rPr dirty="0" sz="1150" spc="125">
                <a:solidFill>
                  <a:srgbClr val="E4DBE6"/>
                </a:solidFill>
                <a:latin typeface="Calibri"/>
                <a:cs typeface="Calibri"/>
              </a:rPr>
              <a:t>Patient</a:t>
            </a:r>
            <a:r>
              <a:rPr dirty="0" sz="1150" spc="80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150" spc="110">
                <a:solidFill>
                  <a:srgbClr val="E4DBE6"/>
                </a:solidFill>
                <a:latin typeface="Calibri"/>
                <a:cs typeface="Calibri"/>
              </a:rPr>
              <a:t>monitoring, </a:t>
            </a:r>
            <a:r>
              <a:rPr dirty="0" sz="1150" spc="120">
                <a:solidFill>
                  <a:srgbClr val="E4DBE6"/>
                </a:solidFill>
                <a:latin typeface="Calibri"/>
                <a:cs typeface="Calibri"/>
              </a:rPr>
              <a:t>preliminary</a:t>
            </a:r>
            <a:r>
              <a:rPr dirty="0" sz="1150" spc="105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150" spc="120">
                <a:solidFill>
                  <a:srgbClr val="E4DBE6"/>
                </a:solidFill>
                <a:latin typeface="Calibri"/>
                <a:cs typeface="Calibri"/>
              </a:rPr>
              <a:t>screening,</a:t>
            </a:r>
            <a:r>
              <a:rPr dirty="0" sz="1150" spc="95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150" spc="140">
                <a:solidFill>
                  <a:srgbClr val="E4DBE6"/>
                </a:solidFill>
                <a:latin typeface="Calibri"/>
                <a:cs typeface="Calibri"/>
              </a:rPr>
              <a:t>and </a:t>
            </a:r>
            <a:r>
              <a:rPr dirty="0" sz="1150" spc="125">
                <a:solidFill>
                  <a:srgbClr val="E4DBE6"/>
                </a:solidFill>
                <a:latin typeface="Calibri"/>
                <a:cs typeface="Calibri"/>
              </a:rPr>
              <a:t>streamlined</a:t>
            </a:r>
            <a:r>
              <a:rPr dirty="0" sz="1150" spc="120">
                <a:solidFill>
                  <a:srgbClr val="E4DBE6"/>
                </a:solidFill>
                <a:latin typeface="Calibri"/>
                <a:cs typeface="Calibri"/>
              </a:rPr>
              <a:t> support </a:t>
            </a:r>
            <a:r>
              <a:rPr dirty="0" sz="1150" spc="105">
                <a:solidFill>
                  <a:srgbClr val="E4DBE6"/>
                </a:solidFill>
                <a:latin typeface="Calibri"/>
                <a:cs typeface="Calibri"/>
              </a:rPr>
              <a:t>workflows</a:t>
            </a:r>
            <a:endParaRPr sz="115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4827" y="2221992"/>
            <a:ext cx="1239012" cy="1239011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809687" y="3605215"/>
            <a:ext cx="1966595" cy="128079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751205">
              <a:lnSpc>
                <a:spcPct val="110700"/>
              </a:lnSpc>
              <a:spcBef>
                <a:spcPts val="90"/>
              </a:spcBef>
            </a:pPr>
            <a:r>
              <a:rPr dirty="0" sz="1400" spc="-10" b="1">
                <a:solidFill>
                  <a:srgbClr val="E4DBE6"/>
                </a:solidFill>
                <a:latin typeface="Trebuchet MS"/>
                <a:cs typeface="Trebuchet MS"/>
              </a:rPr>
              <a:t>Telemedicine Enhancement</a:t>
            </a:r>
            <a:endParaRPr sz="1400">
              <a:latin typeface="Trebuchet MS"/>
              <a:cs typeface="Trebuchet MS"/>
            </a:endParaRPr>
          </a:p>
          <a:p>
            <a:pPr marL="12700" marR="5080">
              <a:lnSpc>
                <a:spcPct val="134800"/>
              </a:lnSpc>
              <a:spcBef>
                <a:spcPts val="585"/>
              </a:spcBef>
            </a:pPr>
            <a:r>
              <a:rPr dirty="0" sz="1150" spc="120">
                <a:solidFill>
                  <a:srgbClr val="E4DBE6"/>
                </a:solidFill>
                <a:latin typeface="Calibri"/>
                <a:cs typeface="Calibri"/>
              </a:rPr>
              <a:t>Preliminary </a:t>
            </a:r>
            <a:r>
              <a:rPr dirty="0" sz="1150" spc="130">
                <a:solidFill>
                  <a:srgbClr val="E4DBE6"/>
                </a:solidFill>
                <a:latin typeface="Calibri"/>
                <a:cs typeface="Calibri"/>
              </a:rPr>
              <a:t>diagnosis </a:t>
            </a:r>
            <a:r>
              <a:rPr dirty="0" sz="1150" spc="135">
                <a:solidFill>
                  <a:srgbClr val="E4DBE6"/>
                </a:solidFill>
                <a:latin typeface="Calibri"/>
                <a:cs typeface="Calibri"/>
              </a:rPr>
              <a:t>and </a:t>
            </a:r>
            <a:r>
              <a:rPr dirty="0" sz="1150" spc="114">
                <a:solidFill>
                  <a:srgbClr val="E4DBE6"/>
                </a:solidFill>
                <a:latin typeface="Calibri"/>
                <a:cs typeface="Calibri"/>
              </a:rPr>
              <a:t>triage</a:t>
            </a:r>
            <a:r>
              <a:rPr dirty="0" sz="1150" spc="70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150" spc="110">
                <a:solidFill>
                  <a:srgbClr val="E4DBE6"/>
                </a:solidFill>
                <a:latin typeface="Calibri"/>
                <a:cs typeface="Calibri"/>
              </a:rPr>
              <a:t>before</a:t>
            </a:r>
            <a:r>
              <a:rPr dirty="0" sz="1150" spc="50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150" spc="80">
                <a:solidFill>
                  <a:srgbClr val="E4DBE6"/>
                </a:solidFill>
                <a:latin typeface="Calibri"/>
                <a:cs typeface="Calibri"/>
              </a:rPr>
              <a:t>virtual </a:t>
            </a:r>
            <a:r>
              <a:rPr dirty="0" sz="1150" spc="105">
                <a:solidFill>
                  <a:srgbClr val="E4DBE6"/>
                </a:solidFill>
                <a:latin typeface="Calibri"/>
                <a:cs typeface="Calibri"/>
              </a:rPr>
              <a:t>consultations</a:t>
            </a:r>
            <a:endParaRPr sz="115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117592" y="2221992"/>
            <a:ext cx="1237487" cy="1239011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5111049" y="3622040"/>
            <a:ext cx="2132330" cy="24511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400" b="1">
                <a:solidFill>
                  <a:srgbClr val="E4DBE6"/>
                </a:solidFill>
                <a:latin typeface="Trebuchet MS"/>
                <a:cs typeface="Trebuchet MS"/>
              </a:rPr>
              <a:t>Rural</a:t>
            </a:r>
            <a:r>
              <a:rPr dirty="0" sz="1400" spc="60" b="1">
                <a:solidFill>
                  <a:srgbClr val="E4DBE6"/>
                </a:solidFill>
                <a:latin typeface="Trebuchet MS"/>
                <a:cs typeface="Trebuchet MS"/>
              </a:rPr>
              <a:t> </a:t>
            </a:r>
            <a:r>
              <a:rPr dirty="0" sz="1400" b="1">
                <a:solidFill>
                  <a:srgbClr val="E4DBE6"/>
                </a:solidFill>
                <a:latin typeface="Trebuchet MS"/>
                <a:cs typeface="Trebuchet MS"/>
              </a:rPr>
              <a:t>Healthcare</a:t>
            </a:r>
            <a:r>
              <a:rPr dirty="0" sz="1400" spc="50" b="1">
                <a:solidFill>
                  <a:srgbClr val="E4DBE6"/>
                </a:solidFill>
                <a:latin typeface="Trebuchet MS"/>
                <a:cs typeface="Trebuchet MS"/>
              </a:rPr>
              <a:t> </a:t>
            </a:r>
            <a:r>
              <a:rPr dirty="0" sz="1400" spc="85" b="1">
                <a:solidFill>
                  <a:srgbClr val="E4DBE6"/>
                </a:solidFill>
                <a:latin typeface="Trebuchet MS"/>
                <a:cs typeface="Trebuchet MS"/>
              </a:rPr>
              <a:t>Access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111018" y="4151467"/>
            <a:ext cx="2062480" cy="7346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34800"/>
              </a:lnSpc>
              <a:spcBef>
                <a:spcPts val="95"/>
              </a:spcBef>
            </a:pPr>
            <a:r>
              <a:rPr dirty="0" sz="1150" spc="150">
                <a:solidFill>
                  <a:srgbClr val="E4DBE6"/>
                </a:solidFill>
                <a:latin typeface="Calibri"/>
                <a:cs typeface="Calibri"/>
              </a:rPr>
              <a:t>Breaking</a:t>
            </a:r>
            <a:r>
              <a:rPr dirty="0" sz="1150" spc="105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150" spc="160">
                <a:solidFill>
                  <a:srgbClr val="E4DBE6"/>
                </a:solidFill>
                <a:latin typeface="Calibri"/>
                <a:cs typeface="Calibri"/>
              </a:rPr>
              <a:t>language</a:t>
            </a:r>
            <a:r>
              <a:rPr dirty="0" sz="1150" spc="95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150" spc="85">
                <a:solidFill>
                  <a:srgbClr val="E4DBE6"/>
                </a:solidFill>
                <a:latin typeface="Calibri"/>
                <a:cs typeface="Calibri"/>
              </a:rPr>
              <a:t>barriers </a:t>
            </a:r>
            <a:r>
              <a:rPr dirty="0" sz="1150" spc="114">
                <a:solidFill>
                  <a:srgbClr val="E4DBE6"/>
                </a:solidFill>
                <a:latin typeface="Calibri"/>
                <a:cs typeface="Calibri"/>
              </a:rPr>
              <a:t>in</a:t>
            </a:r>
            <a:r>
              <a:rPr dirty="0" sz="1150" spc="60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150" spc="120">
                <a:solidFill>
                  <a:srgbClr val="E4DBE6"/>
                </a:solidFill>
                <a:latin typeface="Calibri"/>
                <a:cs typeface="Calibri"/>
              </a:rPr>
              <a:t>underserved </a:t>
            </a:r>
            <a:r>
              <a:rPr dirty="0" sz="1150" spc="140">
                <a:solidFill>
                  <a:srgbClr val="E4DBE6"/>
                </a:solidFill>
                <a:latin typeface="Calibri"/>
                <a:cs typeface="Calibri"/>
              </a:rPr>
              <a:t>communities</a:t>
            </a:r>
            <a:endParaRPr sz="1150">
              <a:latin typeface="Calibri"/>
              <a:cs typeface="Calibri"/>
            </a:endParaRPr>
          </a:p>
        </p:txBody>
      </p: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420355" y="2221992"/>
            <a:ext cx="1234440" cy="1239011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7412228" y="3622040"/>
            <a:ext cx="1952625" cy="1031875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400" b="1">
                <a:solidFill>
                  <a:srgbClr val="E4DBE6"/>
                </a:solidFill>
                <a:latin typeface="Trebuchet MS"/>
                <a:cs typeface="Trebuchet MS"/>
              </a:rPr>
              <a:t>Corporate</a:t>
            </a:r>
            <a:r>
              <a:rPr dirty="0" sz="1400" spc="220" b="1">
                <a:solidFill>
                  <a:srgbClr val="E4DBE6"/>
                </a:solidFill>
                <a:latin typeface="Trebuchet MS"/>
                <a:cs typeface="Trebuchet MS"/>
              </a:rPr>
              <a:t> </a:t>
            </a:r>
            <a:r>
              <a:rPr dirty="0" sz="1400" spc="40" b="1">
                <a:solidFill>
                  <a:srgbClr val="E4DBE6"/>
                </a:solidFill>
                <a:latin typeface="Trebuchet MS"/>
                <a:cs typeface="Trebuchet MS"/>
              </a:rPr>
              <a:t>Wellness</a:t>
            </a:r>
            <a:endParaRPr sz="1400">
              <a:latin typeface="Trebuchet MS"/>
              <a:cs typeface="Trebuchet MS"/>
            </a:endParaRPr>
          </a:p>
          <a:p>
            <a:pPr marL="12700" marR="5080">
              <a:lnSpc>
                <a:spcPct val="134800"/>
              </a:lnSpc>
              <a:spcBef>
                <a:spcPts val="620"/>
              </a:spcBef>
            </a:pPr>
            <a:r>
              <a:rPr dirty="0" sz="1150" spc="150">
                <a:solidFill>
                  <a:srgbClr val="E4DBE6"/>
                </a:solidFill>
                <a:latin typeface="Calibri"/>
                <a:cs typeface="Calibri"/>
              </a:rPr>
              <a:t>Employee</a:t>
            </a:r>
            <a:r>
              <a:rPr dirty="0" sz="1150" spc="75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150" spc="125">
                <a:solidFill>
                  <a:srgbClr val="E4DBE6"/>
                </a:solidFill>
                <a:latin typeface="Calibri"/>
                <a:cs typeface="Calibri"/>
              </a:rPr>
              <a:t>health</a:t>
            </a:r>
            <a:r>
              <a:rPr dirty="0" sz="1150" spc="90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150" spc="125">
                <a:solidFill>
                  <a:srgbClr val="E4DBE6"/>
                </a:solidFill>
                <a:latin typeface="Calibri"/>
                <a:cs typeface="Calibri"/>
              </a:rPr>
              <a:t>tracking </a:t>
            </a:r>
            <a:r>
              <a:rPr dirty="0" sz="1150" spc="165">
                <a:solidFill>
                  <a:srgbClr val="E4DBE6"/>
                </a:solidFill>
                <a:latin typeface="Calibri"/>
                <a:cs typeface="Calibri"/>
              </a:rPr>
              <a:t>and</a:t>
            </a:r>
            <a:r>
              <a:rPr dirty="0" sz="1150" spc="60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150" spc="114">
                <a:solidFill>
                  <a:srgbClr val="E4DBE6"/>
                </a:solidFill>
                <a:latin typeface="Calibri"/>
                <a:cs typeface="Calibri"/>
              </a:rPr>
              <a:t>preventive</a:t>
            </a:r>
            <a:r>
              <a:rPr dirty="0" sz="1150" spc="75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150" spc="95">
                <a:solidFill>
                  <a:srgbClr val="E4DBE6"/>
                </a:solidFill>
                <a:latin typeface="Calibri"/>
                <a:cs typeface="Calibri"/>
              </a:rPr>
              <a:t>care </a:t>
            </a:r>
            <a:r>
              <a:rPr dirty="0" sz="1150" spc="155">
                <a:solidFill>
                  <a:srgbClr val="E4DBE6"/>
                </a:solidFill>
                <a:latin typeface="Calibri"/>
                <a:cs typeface="Calibri"/>
              </a:rPr>
              <a:t>programmes</a:t>
            </a:r>
            <a:endParaRPr sz="1150">
              <a:latin typeface="Calibri"/>
              <a:cs typeface="Calibri"/>
            </a:endParaRPr>
          </a:p>
        </p:txBody>
      </p:sp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16636" y="5148071"/>
            <a:ext cx="9026651" cy="33527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508404" y="5374566"/>
            <a:ext cx="1415415" cy="2927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50" spc="-30" b="1">
                <a:solidFill>
                  <a:srgbClr val="FFFFFF"/>
                </a:solidFill>
                <a:latin typeface="Trebuchet MS"/>
                <a:cs typeface="Trebuchet MS"/>
              </a:rPr>
              <a:t>Future</a:t>
            </a:r>
            <a:r>
              <a:rPr dirty="0" sz="1750" spc="-8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50" spc="-10" b="1">
                <a:solidFill>
                  <a:srgbClr val="FFFFFF"/>
                </a:solidFill>
                <a:latin typeface="Trebuchet MS"/>
                <a:cs typeface="Trebuchet MS"/>
              </a:rPr>
              <a:t>Vision</a:t>
            </a:r>
            <a:endParaRPr sz="175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08541" y="5858289"/>
            <a:ext cx="8463280" cy="4984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34800"/>
              </a:lnSpc>
              <a:spcBef>
                <a:spcPts val="95"/>
              </a:spcBef>
            </a:pPr>
            <a:r>
              <a:rPr dirty="0" sz="1150" spc="165">
                <a:solidFill>
                  <a:srgbClr val="E4DBE6"/>
                </a:solidFill>
                <a:latin typeface="Calibri"/>
                <a:cs typeface="Calibri"/>
              </a:rPr>
              <a:t>Expanding</a:t>
            </a:r>
            <a:r>
              <a:rPr dirty="0" sz="1150" spc="80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150" spc="105">
                <a:solidFill>
                  <a:srgbClr val="E4DBE6"/>
                </a:solidFill>
                <a:latin typeface="Calibri"/>
                <a:cs typeface="Calibri"/>
              </a:rPr>
              <a:t>capabilities </a:t>
            </a:r>
            <a:r>
              <a:rPr dirty="0" sz="1150" spc="125">
                <a:solidFill>
                  <a:srgbClr val="E4DBE6"/>
                </a:solidFill>
                <a:latin typeface="Calibri"/>
                <a:cs typeface="Calibri"/>
              </a:rPr>
              <a:t>with</a:t>
            </a:r>
            <a:r>
              <a:rPr dirty="0" sz="1150" spc="95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150" spc="110">
                <a:solidFill>
                  <a:srgbClr val="E4DBE6"/>
                </a:solidFill>
                <a:latin typeface="Calibri"/>
                <a:cs typeface="Calibri"/>
              </a:rPr>
              <a:t>native</a:t>
            </a:r>
            <a:r>
              <a:rPr dirty="0" sz="1150" spc="80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150" spc="140">
                <a:solidFill>
                  <a:srgbClr val="E4DBE6"/>
                </a:solidFill>
                <a:latin typeface="Calibri"/>
                <a:cs typeface="Calibri"/>
              </a:rPr>
              <a:t>mobile</a:t>
            </a:r>
            <a:r>
              <a:rPr dirty="0" sz="1150" spc="60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150" spc="105">
                <a:solidFill>
                  <a:srgbClr val="E4DBE6"/>
                </a:solidFill>
                <a:latin typeface="Calibri"/>
                <a:cs typeface="Calibri"/>
              </a:rPr>
              <a:t>applications, </a:t>
            </a:r>
            <a:r>
              <a:rPr dirty="0" sz="1150" spc="125">
                <a:solidFill>
                  <a:srgbClr val="E4DBE6"/>
                </a:solidFill>
                <a:latin typeface="Calibri"/>
                <a:cs typeface="Calibri"/>
              </a:rPr>
              <a:t>wearable</a:t>
            </a:r>
            <a:r>
              <a:rPr dirty="0" sz="1150" spc="95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150" spc="125">
                <a:solidFill>
                  <a:srgbClr val="E4DBE6"/>
                </a:solidFill>
                <a:latin typeface="Calibri"/>
                <a:cs typeface="Calibri"/>
              </a:rPr>
              <a:t>device</a:t>
            </a:r>
            <a:r>
              <a:rPr dirty="0" sz="1150" spc="60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150" spc="105">
                <a:solidFill>
                  <a:srgbClr val="E4DBE6"/>
                </a:solidFill>
                <a:latin typeface="Calibri"/>
                <a:cs typeface="Calibri"/>
              </a:rPr>
              <a:t>integration,</a:t>
            </a:r>
            <a:r>
              <a:rPr dirty="0" sz="1150" spc="95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150" spc="165">
                <a:solidFill>
                  <a:srgbClr val="E4DBE6"/>
                </a:solidFill>
                <a:latin typeface="Calibri"/>
                <a:cs typeface="Calibri"/>
              </a:rPr>
              <a:t>and</a:t>
            </a:r>
            <a:r>
              <a:rPr dirty="0" sz="1150" spc="70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150" spc="150">
                <a:solidFill>
                  <a:srgbClr val="E4DBE6"/>
                </a:solidFill>
                <a:latin typeface="Calibri"/>
                <a:cs typeface="Calibri"/>
              </a:rPr>
              <a:t>advanced</a:t>
            </a:r>
            <a:r>
              <a:rPr dirty="0" sz="1150" spc="65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150" spc="110">
                <a:solidFill>
                  <a:srgbClr val="E4DBE6"/>
                </a:solidFill>
                <a:latin typeface="Calibri"/>
                <a:cs typeface="Calibri"/>
              </a:rPr>
              <a:t>AI</a:t>
            </a:r>
            <a:r>
              <a:rPr dirty="0" sz="1150" spc="75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150" spc="120">
                <a:solidFill>
                  <a:srgbClr val="E4DBE6"/>
                </a:solidFill>
                <a:latin typeface="Calibri"/>
                <a:cs typeface="Calibri"/>
              </a:rPr>
              <a:t>diagnostics </a:t>
            </a:r>
            <a:r>
              <a:rPr dirty="0" sz="1150" spc="140">
                <a:solidFill>
                  <a:srgbClr val="E4DBE6"/>
                </a:solidFill>
                <a:latin typeface="Calibri"/>
                <a:cs typeface="Calibri"/>
              </a:rPr>
              <a:t>powered</a:t>
            </a:r>
            <a:r>
              <a:rPr dirty="0" sz="1150" spc="75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150" spc="145">
                <a:solidFill>
                  <a:srgbClr val="E4DBE6"/>
                </a:solidFill>
                <a:latin typeface="Calibri"/>
                <a:cs typeface="Calibri"/>
              </a:rPr>
              <a:t>by</a:t>
            </a:r>
            <a:r>
              <a:rPr dirty="0" sz="1150" spc="70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150" spc="130">
                <a:solidFill>
                  <a:srgbClr val="E4DBE6"/>
                </a:solidFill>
                <a:latin typeface="Calibri"/>
                <a:cs typeface="Calibri"/>
              </a:rPr>
              <a:t>cutting-</a:t>
            </a:r>
            <a:r>
              <a:rPr dirty="0" sz="1150" spc="175">
                <a:solidFill>
                  <a:srgbClr val="E4DBE6"/>
                </a:solidFill>
                <a:latin typeface="Calibri"/>
                <a:cs typeface="Calibri"/>
              </a:rPr>
              <a:t>edge</a:t>
            </a:r>
            <a:r>
              <a:rPr dirty="0" sz="1150" spc="85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150" spc="165">
                <a:solidFill>
                  <a:srgbClr val="E4DBE6"/>
                </a:solidFill>
                <a:latin typeface="Calibri"/>
                <a:cs typeface="Calibri"/>
              </a:rPr>
              <a:t>machine</a:t>
            </a:r>
            <a:r>
              <a:rPr dirty="0" sz="1150" spc="80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150" spc="130">
                <a:solidFill>
                  <a:srgbClr val="E4DBE6"/>
                </a:solidFill>
                <a:latin typeface="Calibri"/>
                <a:cs typeface="Calibri"/>
              </a:rPr>
              <a:t>learning</a:t>
            </a:r>
            <a:r>
              <a:rPr dirty="0" sz="1150" spc="85">
                <a:solidFill>
                  <a:srgbClr val="E4DBE6"/>
                </a:solidFill>
                <a:latin typeface="Calibri"/>
                <a:cs typeface="Calibri"/>
              </a:rPr>
              <a:t> </a:t>
            </a:r>
            <a:r>
              <a:rPr dirty="0" sz="1150" spc="140">
                <a:solidFill>
                  <a:srgbClr val="E4DBE6"/>
                </a:solidFill>
                <a:latin typeface="Calibri"/>
                <a:cs typeface="Calibri"/>
              </a:rPr>
              <a:t>models</a:t>
            </a:r>
            <a:endParaRPr sz="1150">
              <a:latin typeface="Calibri"/>
              <a:cs typeface="Calibri"/>
            </a:endParaRPr>
          </a:p>
        </p:txBody>
      </p:sp>
      <p:pic>
        <p:nvPicPr>
          <p:cNvPr id="16" name="object 1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534400" y="6266688"/>
            <a:ext cx="1524000" cy="38252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Shilpa Chinnakkagari</dc:creator>
  <dc:title>Microsoft PowerPoint - HealthWellness-Assistant</dc:title>
  <dcterms:created xsi:type="dcterms:W3CDTF">2025-11-04T12:36:34Z</dcterms:created>
  <dcterms:modified xsi:type="dcterms:W3CDTF">2025-11-04T12:36:34Z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2025-11-02T00:00:00Z</vt:filetime>
  </property>
  <property fmtid="{D5CDD505-2E9C-101B-9397-08002B2CF9AE}" pid="3" name="LastSaved">
    <vt:filetime>2025-11-04T00:00:00Z</vt:filetime>
  </property>
  <property fmtid="{D5CDD505-2E9C-101B-9397-08002B2CF9AE}" pid="4" name="Producer">
    <vt:lpwstr>Microsoft: Print To PDF</vt:lpwstr>
  </property>
</Properties>
</file>